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1944350" cy="119443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xis-y"/>
          <p:cNvCxnSpPr/>
          <p:nvPr/>
        </p:nvCxnSpPr>
        <p:spPr>
          <a:xfrm flipV="1">
            <a:off x="7581900" y="1409700"/>
            <a:ext cx="0" cy="3248025"/>
          </a:xfrm>
          <a:prstGeom prst="line">
            <a:avLst/>
          </a:prstGeom>
          <a:noFill/>
          <a:ln w="36830">
            <a:solidFill>
              <a:srgbClr val="263441"/>
            </a:solidFill>
            <a:tailEnd type="stealth" w="lg" len="lg"/>
          </a:ln>
        </p:spPr>
      </p:cxnSp>
      <p:cxnSp>
        <p:nvCxnSpPr>
          <p:cNvPr id="3" name="axis-x"/>
          <p:cNvCxnSpPr/>
          <p:nvPr/>
        </p:nvCxnSpPr>
        <p:spPr>
          <a:xfrm>
            <a:off x="7581900" y="4648200"/>
            <a:ext cx="3686175" cy="0"/>
          </a:xfrm>
          <a:prstGeom prst="line">
            <a:avLst/>
          </a:prstGeom>
          <a:noFill/>
          <a:ln w="36830">
            <a:solidFill>
              <a:srgbClr val="263441"/>
            </a:solidFill>
            <a:tailEnd type="stealth" w="lg" len="lg"/>
          </a:ln>
        </p:spPr>
      </p:cxnSp>
      <p:cxnSp>
        <p:nvCxnSpPr>
          <p:cNvPr id="4" name="traits-to-diversity"/>
          <p:cNvCxnSpPr/>
          <p:nvPr/>
        </p:nvCxnSpPr>
        <p:spPr>
          <a:xfrm>
            <a:off x="6038850" y="3000375"/>
            <a:ext cx="1123950" cy="0"/>
          </a:xfrm>
          <a:prstGeom prst="line">
            <a:avLst/>
          </a:prstGeom>
          <a:noFill/>
          <a:ln w="48260">
            <a:solidFill>
              <a:srgbClr val="4B76A9"/>
            </a:solidFill>
            <a:tailEnd type="triangle" w="lg" len="lg"/>
          </a:ln>
        </p:spPr>
      </p:cxnSp>
      <p:cxnSp>
        <p:nvCxnSpPr>
          <p:cNvPr id="5" name="diversity-to-function"/>
          <p:cNvCxnSpPr/>
          <p:nvPr/>
        </p:nvCxnSpPr>
        <p:spPr>
          <a:xfrm>
            <a:off x="9020175" y="4981575"/>
            <a:ext cx="0" cy="1190625"/>
          </a:xfrm>
          <a:prstGeom prst="line">
            <a:avLst/>
          </a:prstGeom>
          <a:noFill/>
          <a:ln w="48260">
            <a:solidFill>
              <a:srgbClr val="4B76A9"/>
            </a:solidFill>
            <a:tailEnd type="triangle" w="lg" len="lg"/>
          </a:ln>
        </p:spPr>
      </p:cxnSp>
      <p:sp>
        <p:nvSpPr>
          <p:cNvPr id="6" name="point-blue-upper"/>
          <p:cNvSpPr/>
          <p:nvPr/>
        </p:nvSpPr>
        <p:spPr>
          <a:xfrm>
            <a:off x="8391525" y="2009775"/>
            <a:ext cx="323850" cy="323850"/>
          </a:xfrm>
          <a:prstGeom prst="ellipse">
            <a:avLst/>
          </a:prstGeom>
          <a:solidFill>
            <a:srgbClr val="6887A8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7" name="point-blue-left"/>
          <p:cNvSpPr/>
          <p:nvPr/>
        </p:nvSpPr>
        <p:spPr>
          <a:xfrm>
            <a:off x="8001000" y="2314575"/>
            <a:ext cx="323850" cy="323850"/>
          </a:xfrm>
          <a:prstGeom prst="ellipse">
            <a:avLst/>
          </a:prstGeom>
          <a:solidFill>
            <a:srgbClr val="6788AA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8" name="point-blue-right"/>
          <p:cNvSpPr/>
          <p:nvPr/>
        </p:nvSpPr>
        <p:spPr>
          <a:xfrm>
            <a:off x="8505825" y="2533650"/>
            <a:ext cx="333375" cy="333375"/>
          </a:xfrm>
          <a:prstGeom prst="ellipse">
            <a:avLst/>
          </a:prstGeom>
          <a:solidFill>
            <a:srgbClr val="6A87A6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9" name="point-green-upper"/>
          <p:cNvSpPr/>
          <p:nvPr/>
        </p:nvSpPr>
        <p:spPr>
          <a:xfrm>
            <a:off x="10420350" y="2095500"/>
            <a:ext cx="323850" cy="323850"/>
          </a:xfrm>
          <a:prstGeom prst="ellipse">
            <a:avLst/>
          </a:prstGeom>
          <a:solidFill>
            <a:srgbClr val="8F9F7E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10" name="point-green-left"/>
          <p:cNvSpPr/>
          <p:nvPr/>
        </p:nvSpPr>
        <p:spPr>
          <a:xfrm>
            <a:off x="10106025" y="2438400"/>
            <a:ext cx="323850" cy="323850"/>
          </a:xfrm>
          <a:prstGeom prst="ellipse">
            <a:avLst/>
          </a:prstGeom>
          <a:solidFill>
            <a:srgbClr val="909F7F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11" name="point-green-right"/>
          <p:cNvSpPr/>
          <p:nvPr/>
        </p:nvSpPr>
        <p:spPr>
          <a:xfrm>
            <a:off x="10591800" y="2628900"/>
            <a:ext cx="323850" cy="323850"/>
          </a:xfrm>
          <a:prstGeom prst="ellipse">
            <a:avLst/>
          </a:prstGeom>
          <a:solidFill>
            <a:srgbClr val="95A485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12" name="point-tan-upper"/>
          <p:cNvSpPr/>
          <p:nvPr/>
        </p:nvSpPr>
        <p:spPr>
          <a:xfrm>
            <a:off x="9382125" y="3324225"/>
            <a:ext cx="323850" cy="323850"/>
          </a:xfrm>
          <a:prstGeom prst="ellipse">
            <a:avLst/>
          </a:prstGeom>
          <a:solidFill>
            <a:srgbClr val="B6A388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13" name="point-tan-left"/>
          <p:cNvSpPr/>
          <p:nvPr/>
        </p:nvSpPr>
        <p:spPr>
          <a:xfrm>
            <a:off x="9220200" y="3829050"/>
            <a:ext cx="323850" cy="323850"/>
          </a:xfrm>
          <a:prstGeom prst="ellipse">
            <a:avLst/>
          </a:prstGeom>
          <a:solidFill>
            <a:srgbClr val="B5A187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sp>
        <p:nvSpPr>
          <p:cNvPr id="14" name="point-tan-right"/>
          <p:cNvSpPr/>
          <p:nvPr/>
        </p:nvSpPr>
        <p:spPr>
          <a:xfrm>
            <a:off x="9801225" y="3667125"/>
            <a:ext cx="323850" cy="323850"/>
          </a:xfrm>
          <a:prstGeom prst="ellipse">
            <a:avLst/>
          </a:prstGeom>
          <a:solidFill>
            <a:srgbClr val="B5A186"/>
          </a:solidFill>
          <a:ln w="13335">
            <a:solidFill>
              <a:srgbClr val="38413E"/>
            </a:solidFill>
          </a:ln>
        </p:spPr>
        <p:txBody>
          <a:bodyPr/>
          <a:lstStyle/>
          <a:p/>
        </p:txBody>
      </p:sp>
      <p:pic>
        <p:nvPicPr>
          <p:cNvPr id="15" name="broadleaf source-faithful separated botanical artwork"/>
          <p:cNvPicPr/>
          <p:nvPr/>
        </p:nvPicPr>
        <p:blipFill>
          <a:blip ns2:embed="rId2"/>
          <a:stretch>
            <a:fillRect/>
          </a:stretch>
        </p:blipFill>
        <p:spPr>
          <a:xfrm>
            <a:off x="628650" y="1381125"/>
            <a:ext cx="2019300" cy="3476625"/>
          </a:xfrm>
          <a:prstGeom prst="rect">
            <a:avLst/>
          </a:prstGeom>
        </p:spPr>
      </p:pic>
      <p:pic>
        <p:nvPicPr>
          <p:cNvPr id="16" name="narrowleaf source-faithful separated botanical artwork"/>
          <p:cNvPicPr/>
          <p:nvPr/>
        </p:nvPicPr>
        <p:blipFill>
          <a:blip ns2:embed="rId3"/>
          <a:stretch>
            <a:fillRect/>
          </a:stretch>
        </p:blipFill>
        <p:spPr>
          <a:xfrm>
            <a:off x="2857500" y="1476375"/>
            <a:ext cx="752475" cy="3381375"/>
          </a:xfrm>
          <a:prstGeom prst="rect">
            <a:avLst/>
          </a:prstGeom>
        </p:spPr>
      </p:pic>
      <p:pic>
        <p:nvPicPr>
          <p:cNvPr id="17" name="conifer source-faithful separated botanical artwork"/>
          <p:cNvPicPr/>
          <p:nvPr/>
        </p:nvPicPr>
        <p:blipFill>
          <a:blip ns2:embed="rId4"/>
          <a:stretch>
            <a:fillRect/>
          </a:stretch>
        </p:blipFill>
        <p:spPr>
          <a:xfrm>
            <a:off x="3743325" y="1514475"/>
            <a:ext cx="2114550" cy="3343275"/>
          </a:xfrm>
          <a:prstGeom prst="rect">
            <a:avLst/>
          </a:prstGeom>
        </p:spPr>
      </p:pic>
      <p:pic>
        <p:nvPicPr>
          <p:cNvPr id="18" name="woodland source-faithful separated botanical artwork"/>
          <p:cNvPicPr/>
          <p:nvPr/>
        </p:nvPicPr>
        <p:blipFill>
          <a:blip ns2:embed="rId5"/>
          <a:stretch>
            <a:fillRect/>
          </a:stretch>
        </p:blipFill>
        <p:spPr>
          <a:xfrm>
            <a:off x="438150" y="6400800"/>
            <a:ext cx="11068050" cy="4914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419350" y="571500"/>
            <a:ext cx="1514475" cy="647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200" b="1">
                <a:solidFill>
                  <a:srgbClr val="25313F"/>
                </a:solidFill>
                <a:latin typeface="Myriad Pro"/>
                <a:ea typeface="Myriad Pro"/>
                <a:cs typeface="Myriad Pro"/>
              </a:rPr>
              <a:t>Traits</a:t>
            </a:r>
            <a:endParaRPr lang="zh-CN" sz="4200"/>
          </a:p>
        </p:txBody>
      </p:sp>
      <p:sp>
        <p:nvSpPr>
          <p:cNvPr id="20" name="TextBox 20"/>
          <p:cNvSpPr txBox="1"/>
          <p:nvPr/>
        </p:nvSpPr>
        <p:spPr>
          <a:xfrm>
            <a:off x="8001000" y="495300"/>
            <a:ext cx="2400300" cy="809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200" b="1">
                <a:solidFill>
                  <a:srgbClr val="25313F"/>
                </a:solidFill>
                <a:latin typeface="Myriad Pro"/>
                <a:ea typeface="Myriad Pro"/>
                <a:cs typeface="Myriad Pro"/>
              </a:rPr>
              <a:t>Diversity</a:t>
            </a:r>
            <a:endParaRPr lang="zh-CN" sz="4200"/>
          </a:p>
        </p:txBody>
      </p:sp>
      <p:sp>
        <p:nvSpPr>
          <p:cNvPr id="21" name="TextBox 21"/>
          <p:cNvSpPr txBox="1"/>
          <p:nvPr/>
        </p:nvSpPr>
        <p:spPr>
          <a:xfrm>
            <a:off x="3733800" y="5753100"/>
            <a:ext cx="4524375" cy="742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200" b="1">
                <a:solidFill>
                  <a:srgbClr val="25313F"/>
                </a:solidFill>
                <a:latin typeface="Myriad Pro"/>
                <a:ea typeface="Myriad Pro"/>
                <a:cs typeface="Myriad Pro"/>
              </a:rPr>
              <a:t>Ecosystem function</a:t>
            </a:r>
            <a:endParaRPr lang="zh-CN"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-intact"/>
          <p:cNvSpPr/>
          <p:nvPr/>
        </p:nvSpPr>
        <p:spPr>
          <a:xfrm>
            <a:off x="3629025" y="7534275"/>
            <a:ext cx="1133475" cy="2962275"/>
          </a:xfrm>
          <a:prstGeom prst="rect">
            <a:avLst/>
          </a:prstGeom>
          <a:solidFill>
            <a:srgbClr val="6384AB"/>
          </a:solidFill>
          <a:ln w="34290">
            <a:solidFill>
              <a:srgbClr val="2D3943"/>
            </a:solidFill>
          </a:ln>
        </p:spPr>
        <p:txBody>
          <a:bodyPr/>
          <a:lstStyle/>
          <a:p/>
        </p:txBody>
      </p:sp>
      <p:sp>
        <p:nvSpPr>
          <p:cNvPr id="3" name="bar-middle"/>
          <p:cNvSpPr/>
          <p:nvPr/>
        </p:nvSpPr>
        <p:spPr>
          <a:xfrm>
            <a:off x="5305425" y="8467725"/>
            <a:ext cx="1114425" cy="2028825"/>
          </a:xfrm>
          <a:prstGeom prst="rect">
            <a:avLst/>
          </a:prstGeom>
          <a:solidFill>
            <a:srgbClr val="899B85"/>
          </a:solidFill>
          <a:ln w="34290">
            <a:solidFill>
              <a:srgbClr val="2D3943"/>
            </a:solidFill>
          </a:ln>
        </p:spPr>
        <p:txBody>
          <a:bodyPr/>
          <a:lstStyle/>
          <a:p/>
        </p:txBody>
      </p:sp>
      <p:sp>
        <p:nvSpPr>
          <p:cNvPr id="4" name="bar-low"/>
          <p:cNvSpPr/>
          <p:nvPr/>
        </p:nvSpPr>
        <p:spPr>
          <a:xfrm>
            <a:off x="6962775" y="9267825"/>
            <a:ext cx="1123950" cy="1228725"/>
          </a:xfrm>
          <a:prstGeom prst="rect">
            <a:avLst/>
          </a:prstGeom>
          <a:solidFill>
            <a:srgbClr val="AF9473"/>
          </a:solidFill>
          <a:ln w="34290">
            <a:solidFill>
              <a:srgbClr val="2D3943"/>
            </a:solidFill>
          </a:ln>
        </p:spPr>
        <p:txBody>
          <a:bodyPr/>
          <a:lstStyle/>
          <a:p/>
        </p:txBody>
      </p:sp>
      <p:sp>
        <p:nvSpPr>
          <p:cNvPr id="5" name="chart-baseline"/>
          <p:cNvSpPr/>
          <p:nvPr/>
        </p:nvSpPr>
        <p:spPr>
          <a:xfrm>
            <a:off x="3219450" y="10496550"/>
            <a:ext cx="5419725" cy="0"/>
          </a:xfrm>
          <a:prstGeom prst="line">
            <a:avLst/>
          </a:prstGeom>
          <a:noFill/>
          <a:ln w="34290">
            <a:solidFill>
              <a:srgbClr val="2D3943"/>
            </a:solidFill>
          </a:ln>
        </p:spPr>
        <p:txBody>
          <a:bodyPr/>
          <a:lstStyle/>
          <a:p/>
        </p:txBody>
      </p:sp>
      <p:sp>
        <p:nvSpPr>
          <p:cNvPr id="6" name="fragmentation-arrow"/>
          <p:cNvSpPr/>
          <p:nvPr/>
        </p:nvSpPr>
        <p:spPr>
          <a:xfrm>
            <a:off x="5600700" y="3543300"/>
            <a:ext cx="933450" cy="323850"/>
          </a:xfrm>
          <a:prstGeom prst="rightArrow">
            <a:avLst/>
          </a:prstGeom>
          <a:solidFill>
            <a:srgbClr val="5F82A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integrity-arrow"/>
          <p:cNvSpPr/>
          <p:nvPr/>
        </p:nvSpPr>
        <p:spPr>
          <a:xfrm>
            <a:off x="7591425" y="6486525"/>
            <a:ext cx="1123950" cy="1343025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21600" y="0"/>
                </a:moveTo>
                <a:cubicBezTo>
                  <a:pt x="19037" y="7813"/>
                  <a:pt x="10800" y="15932"/>
                  <a:pt x="0" y="21600"/>
                </a:cubicBezTo>
              </a:path>
            </a:pathLst>
          </a:custGeom>
          <a:noFill/>
          <a:ln w="71120">
            <a:solidFill>
              <a:srgbClr val="5F82AD"/>
            </a:solidFill>
            <a:tailEnd type="triangle" w="lg" len="med"/>
          </a:ln>
        </p:spPr>
        <p:txBody>
          <a:bodyPr/>
          <a:lstStyle/>
          <a:p/>
        </p:txBody>
      </p:sp>
      <p:pic>
        <p:nvPicPr>
          <p:cNvPr id="8" name="Source-separated intact forest illustration with complete soil, trees, foliage and foreground log."/>
          <p:cNvPicPr/>
          <p:nvPr/>
        </p:nvPicPr>
        <p:blipFill>
          <a:blip ns2:embed="rId2"/>
          <a:stretch>
            <a:fillRect/>
          </a:stretch>
        </p:blipFill>
        <p:spPr>
          <a:xfrm>
            <a:off x="104775" y="1381125"/>
            <a:ext cx="5676900" cy="4876800"/>
          </a:xfrm>
          <a:prstGeom prst="rect">
            <a:avLst/>
          </a:prstGeom>
        </p:spPr>
      </p:pic>
      <p:pic>
        <p:nvPicPr>
          <p:cNvPr id="9" name="Source-separated fragmented forest illustration containing both forest stands and diagonal sandy road."/>
          <p:cNvPicPr/>
          <p:nvPr/>
        </p:nvPicPr>
        <p:blipFill>
          <a:blip ns2:embed="rId3"/>
          <a:stretch>
            <a:fillRect/>
          </a:stretch>
        </p:blipFill>
        <p:spPr>
          <a:xfrm>
            <a:off x="6515100" y="1304925"/>
            <a:ext cx="5314950" cy="5391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81175" y="657225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150" b="1">
                <a:solidFill>
                  <a:srgbClr val="2D3943"/>
                </a:solidFill>
                <a:latin typeface="Arial"/>
                <a:ea typeface="Arial"/>
                <a:cs typeface="Arial"/>
              </a:rPr>
              <a:t>Intact forest</a:t>
            </a:r>
            <a:endParaRPr lang="zh-CN" sz="3150"/>
          </a:p>
        </p:txBody>
      </p:sp>
      <p:sp>
        <p:nvSpPr>
          <p:cNvPr id="11" name="TextBox 11"/>
          <p:cNvSpPr txBox="1"/>
          <p:nvPr/>
        </p:nvSpPr>
        <p:spPr>
          <a:xfrm>
            <a:off x="8010525" y="657225"/>
            <a:ext cx="2752725" cy="552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150" b="1">
                <a:solidFill>
                  <a:srgbClr val="2D3943"/>
                </a:solidFill>
                <a:latin typeface="Arial"/>
                <a:ea typeface="Arial"/>
                <a:cs typeface="Arial"/>
              </a:rPr>
              <a:t>Forest edges</a:t>
            </a:r>
            <a:endParaRPr lang="zh-CN" sz="3150"/>
          </a:p>
        </p:txBody>
      </p:sp>
      <p:sp>
        <p:nvSpPr>
          <p:cNvPr id="12" name="TextBox 12"/>
          <p:cNvSpPr txBox="1"/>
          <p:nvPr/>
        </p:nvSpPr>
        <p:spPr>
          <a:xfrm>
            <a:off x="4057650" y="10668000"/>
            <a:ext cx="3857625" cy="619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150" b="1">
                <a:solidFill>
                  <a:srgbClr val="2D3943"/>
                </a:solidFill>
                <a:latin typeface="Arial"/>
                <a:ea typeface="Arial"/>
                <a:cs typeface="Arial"/>
              </a:rPr>
              <a:t>Functional integrity</a:t>
            </a:r>
            <a:endParaRPr lang="zh-CN" sz="3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_water"/>
          <p:cNvSpPr/>
          <p:nvPr/>
        </p:nvSpPr>
        <p:spPr>
          <a:xfrm>
            <a:off x="447675" y="7877175"/>
            <a:ext cx="3562350" cy="3533775"/>
          </a:xfrm>
          <a:prstGeom prst="roundRect">
            <a:avLst>
              <a:gd name="adj" fmla="val 4582"/>
            </a:avLst>
          </a:prstGeom>
          <a:solidFill>
            <a:srgbClr val="EEF7FC"/>
          </a:solidFill>
          <a:ln w="21590">
            <a:solidFill>
              <a:srgbClr val="598CBC"/>
            </a:solidFill>
          </a:ln>
        </p:spPr>
        <p:txBody>
          <a:bodyPr/>
          <a:lstStyle/>
          <a:p/>
        </p:txBody>
      </p:sp>
      <p:sp>
        <p:nvSpPr>
          <p:cNvPr id="3" name="card_carbon"/>
          <p:cNvSpPr/>
          <p:nvPr/>
        </p:nvSpPr>
        <p:spPr>
          <a:xfrm>
            <a:off x="4171950" y="7877175"/>
            <a:ext cx="3609975" cy="3533775"/>
          </a:xfrm>
          <a:prstGeom prst="roundRect">
            <a:avLst>
              <a:gd name="adj" fmla="val 4582"/>
            </a:avLst>
          </a:prstGeom>
          <a:solidFill>
            <a:srgbClr val="F2F5EC"/>
          </a:solidFill>
          <a:ln w="21590">
            <a:solidFill>
              <a:srgbClr val="758764"/>
            </a:solidFill>
          </a:ln>
        </p:spPr>
        <p:txBody>
          <a:bodyPr/>
          <a:lstStyle/>
          <a:p/>
        </p:txBody>
      </p:sp>
      <p:sp>
        <p:nvSpPr>
          <p:cNvPr id="4" name="card_energy"/>
          <p:cNvSpPr/>
          <p:nvPr/>
        </p:nvSpPr>
        <p:spPr>
          <a:xfrm>
            <a:off x="7943850" y="7886700"/>
            <a:ext cx="3562350" cy="3524250"/>
          </a:xfrm>
          <a:prstGeom prst="roundRect">
            <a:avLst>
              <a:gd name="adj" fmla="val 4595"/>
            </a:avLst>
          </a:prstGeom>
          <a:solidFill>
            <a:srgbClr val="FFF7E3"/>
          </a:solidFill>
          <a:ln w="21590">
            <a:solidFill>
              <a:srgbClr val="CD963C"/>
            </a:solidFill>
          </a:ln>
        </p:spPr>
        <p:txBody>
          <a:bodyPr/>
          <a:lstStyle/>
          <a:p/>
        </p:txBody>
      </p:sp>
      <p:pic>
        <p:nvPicPr>
          <p:cNvPr id="5" name="dryland_scene"/>
          <p:cNvPicPr/>
          <p:nvPr/>
        </p:nvPicPr>
        <p:blipFill>
          <a:blip ns2:embed="rId2"/>
          <a:stretch>
            <a:fillRect/>
          </a:stretch>
        </p:blipFill>
        <p:spPr>
          <a:xfrm>
            <a:off x="228600" y="2314575"/>
            <a:ext cx="5791200" cy="3705225"/>
          </a:xfrm>
          <a:prstGeom prst="rect">
            <a:avLst/>
          </a:prstGeom>
        </p:spPr>
      </p:pic>
      <p:pic>
        <p:nvPicPr>
          <p:cNvPr id="6" name="climate_sun"/>
          <p:cNvPicPr/>
          <p:nvPr/>
        </p:nvPicPr>
        <p:blipFill>
          <a:blip ns2:embed="rId3"/>
          <a:stretch>
            <a:fillRect/>
          </a:stretch>
        </p:blipFill>
        <p:spPr>
          <a:xfrm>
            <a:off x="638175" y="1581150"/>
            <a:ext cx="1238250" cy="1162050"/>
          </a:xfrm>
          <a:prstGeom prst="rect">
            <a:avLst/>
          </a:prstGeom>
        </p:spPr>
      </p:pic>
      <p:pic>
        <p:nvPicPr>
          <p:cNvPr id="7" name="climate_cloud"/>
          <p:cNvPicPr/>
          <p:nvPr/>
        </p:nvPicPr>
        <p:blipFill>
          <a:blip ns2:embed="rId4"/>
          <a:stretch>
            <a:fillRect/>
          </a:stretch>
        </p:blipFill>
        <p:spPr>
          <a:xfrm>
            <a:off x="4238625" y="2152650"/>
            <a:ext cx="1714500" cy="419100"/>
          </a:xfrm>
          <a:prstGeom prst="rect">
            <a:avLst/>
          </a:prstGeom>
        </p:spPr>
      </p:pic>
      <p:pic>
        <p:nvPicPr>
          <p:cNvPr id="8" name="biocrust_profile"/>
          <p:cNvPicPr/>
          <p:nvPr/>
        </p:nvPicPr>
        <p:blipFill>
          <a:blip ns2:embed="rId5"/>
          <a:stretch>
            <a:fillRect/>
          </a:stretch>
        </p:blipFill>
        <p:spPr>
          <a:xfrm>
            <a:off x="6257925" y="2314575"/>
            <a:ext cx="5429250" cy="4000500"/>
          </a:xfrm>
          <a:prstGeom prst="rect">
            <a:avLst/>
          </a:prstGeom>
        </p:spPr>
      </p:pic>
      <p:pic>
        <p:nvPicPr>
          <p:cNvPr id="9" name="water_soil"/>
          <p:cNvPicPr/>
          <p:nvPr/>
        </p:nvPicPr>
        <p:blipFill>
          <a:blip ns2:embed="rId6"/>
          <a:stretch>
            <a:fillRect/>
          </a:stretch>
        </p:blipFill>
        <p:spPr>
          <a:xfrm>
            <a:off x="457200" y="9210675"/>
            <a:ext cx="3524250" cy="2171700"/>
          </a:xfrm>
          <a:prstGeom prst="rect">
            <a:avLst/>
          </a:prstGeom>
        </p:spPr>
      </p:pic>
      <p:pic>
        <p:nvPicPr>
          <p:cNvPr id="10" name="carbon_soil"/>
          <p:cNvPicPr/>
          <p:nvPr/>
        </p:nvPicPr>
        <p:blipFill>
          <a:blip ns2:embed="rId8"/>
          <a:stretch>
            <a:fillRect/>
          </a:stretch>
        </p:blipFill>
        <p:spPr>
          <a:xfrm>
            <a:off x="4191000" y="9277350"/>
            <a:ext cx="3571875" cy="2114550"/>
          </a:xfrm>
          <a:prstGeom prst="rect">
            <a:avLst/>
          </a:prstGeom>
        </p:spPr>
      </p:pic>
      <p:pic>
        <p:nvPicPr>
          <p:cNvPr id="11" name="energy_soil"/>
          <p:cNvPicPr/>
          <p:nvPr/>
        </p:nvPicPr>
        <p:blipFill>
          <a:blip ns2:embed="rId9"/>
          <a:stretch>
            <a:fillRect/>
          </a:stretch>
        </p:blipFill>
        <p:spPr>
          <a:xfrm>
            <a:off x="7962900" y="9696450"/>
            <a:ext cx="3533775" cy="1695450"/>
          </a:xfrm>
          <a:prstGeom prst="rect">
            <a:avLst/>
          </a:prstGeom>
        </p:spPr>
      </p:pic>
      <p:pic>
        <p:nvPicPr>
          <p:cNvPr id="12" name="energy_sun"/>
          <p:cNvPicPr/>
          <p:nvPr/>
        </p:nvPicPr>
        <p:blipFill>
          <a:blip ns2:embed="rId10"/>
          <a:stretch>
            <a:fillRect/>
          </a:stretch>
        </p:blipFill>
        <p:spPr>
          <a:xfrm>
            <a:off x="10353675" y="8153400"/>
            <a:ext cx="1104900" cy="1171575"/>
          </a:xfrm>
          <a:prstGeom prst="rect">
            <a:avLst/>
          </a:prstGeom>
        </p:spPr>
      </p:pic>
      <p:pic>
        <p:nvPicPr>
          <p:cNvPr id="13" name="rain_drop_01"/>
          <p:cNvPicPr/>
          <p:nvPr/>
        </p:nvPicPr>
        <p:blipFill>
          <a:blip ns2:embed="rId11"/>
          <a:stretch>
            <a:fillRect/>
          </a:stretch>
        </p:blipFill>
        <p:spPr>
          <a:xfrm>
            <a:off x="933450" y="8210550"/>
            <a:ext cx="114300" cy="295275"/>
          </a:xfrm>
          <a:prstGeom prst="rect">
            <a:avLst/>
          </a:prstGeom>
        </p:spPr>
      </p:pic>
      <p:pic>
        <p:nvPicPr>
          <p:cNvPr id="14" name="rain_drop_02"/>
          <p:cNvPicPr/>
          <p:nvPr/>
        </p:nvPicPr>
        <p:blipFill>
          <a:blip ns2:embed="rId12"/>
          <a:stretch>
            <a:fillRect/>
          </a:stretch>
        </p:blipFill>
        <p:spPr>
          <a:xfrm>
            <a:off x="666750" y="8572500"/>
            <a:ext cx="114300" cy="314325"/>
          </a:xfrm>
          <a:prstGeom prst="rect">
            <a:avLst/>
          </a:prstGeom>
        </p:spPr>
      </p:pic>
      <p:pic>
        <p:nvPicPr>
          <p:cNvPr id="15" name="rain_drop_03"/>
          <p:cNvPicPr/>
          <p:nvPr/>
        </p:nvPicPr>
        <p:blipFill>
          <a:blip ns2:embed="rId13"/>
          <a:stretch>
            <a:fillRect/>
          </a:stretch>
        </p:blipFill>
        <p:spPr>
          <a:xfrm>
            <a:off x="1190625" y="8477250"/>
            <a:ext cx="114300" cy="295275"/>
          </a:xfrm>
          <a:prstGeom prst="rect">
            <a:avLst/>
          </a:prstGeom>
        </p:spPr>
      </p:pic>
      <p:pic>
        <p:nvPicPr>
          <p:cNvPr id="16" name="rain_drop_04"/>
          <p:cNvPicPr/>
          <p:nvPr/>
        </p:nvPicPr>
        <p:blipFill>
          <a:blip ns2:embed="rId14"/>
          <a:stretch>
            <a:fillRect/>
          </a:stretch>
        </p:blipFill>
        <p:spPr>
          <a:xfrm>
            <a:off x="1819275" y="8505825"/>
            <a:ext cx="104775" cy="257175"/>
          </a:xfrm>
          <a:prstGeom prst="rect">
            <a:avLst/>
          </a:prstGeom>
        </p:spPr>
      </p:pic>
      <p:pic>
        <p:nvPicPr>
          <p:cNvPr id="17" name="rain_drop_05"/>
          <p:cNvPicPr/>
          <p:nvPr/>
        </p:nvPicPr>
        <p:blipFill>
          <a:blip ns2:embed="rId15"/>
          <a:stretch>
            <a:fillRect/>
          </a:stretch>
        </p:blipFill>
        <p:spPr>
          <a:xfrm>
            <a:off x="2505075" y="8515350"/>
            <a:ext cx="114300" cy="276225"/>
          </a:xfrm>
          <a:prstGeom prst="rect">
            <a:avLst/>
          </a:prstGeom>
        </p:spPr>
      </p:pic>
      <p:pic>
        <p:nvPicPr>
          <p:cNvPr id="18" name="rain_drop_06"/>
          <p:cNvPicPr/>
          <p:nvPr/>
        </p:nvPicPr>
        <p:blipFill>
          <a:blip ns2:embed="rId16"/>
          <a:stretch>
            <a:fillRect/>
          </a:stretch>
        </p:blipFill>
        <p:spPr>
          <a:xfrm>
            <a:off x="3267075" y="8401050"/>
            <a:ext cx="114300" cy="304800"/>
          </a:xfrm>
          <a:prstGeom prst="rect">
            <a:avLst/>
          </a:prstGeom>
        </p:spPr>
      </p:pic>
      <p:pic>
        <p:nvPicPr>
          <p:cNvPr id="19" name="rain_drop_07"/>
          <p:cNvPicPr/>
          <p:nvPr/>
        </p:nvPicPr>
        <p:blipFill>
          <a:blip ns2:embed="rId17"/>
          <a:stretch>
            <a:fillRect/>
          </a:stretch>
        </p:blipFill>
        <p:spPr>
          <a:xfrm>
            <a:off x="2971800" y="8658225"/>
            <a:ext cx="104775" cy="257175"/>
          </a:xfrm>
          <a:prstGeom prst="rect">
            <a:avLst/>
          </a:prstGeom>
        </p:spPr>
      </p:pic>
      <p:pic>
        <p:nvPicPr>
          <p:cNvPr id="20" name="rain_drop_08"/>
          <p:cNvPicPr/>
          <p:nvPr/>
        </p:nvPicPr>
        <p:blipFill>
          <a:blip ns2:embed="rId18"/>
          <a:stretch>
            <a:fillRect/>
          </a:stretch>
        </p:blipFill>
        <p:spPr>
          <a:xfrm>
            <a:off x="3505200" y="8801100"/>
            <a:ext cx="123825" cy="314325"/>
          </a:xfrm>
          <a:prstGeom prst="rect">
            <a:avLst/>
          </a:prstGeom>
        </p:spPr>
      </p:pic>
      <p:pic>
        <p:nvPicPr>
          <p:cNvPr id="21" name="rain_drop_09"/>
          <p:cNvPicPr/>
          <p:nvPr/>
        </p:nvPicPr>
        <p:blipFill>
          <a:blip ns2:embed="rId19"/>
          <a:stretch>
            <a:fillRect/>
          </a:stretch>
        </p:blipFill>
        <p:spPr>
          <a:xfrm>
            <a:off x="1409700" y="8791575"/>
            <a:ext cx="114300" cy="295275"/>
          </a:xfrm>
          <a:prstGeom prst="rect">
            <a:avLst/>
          </a:prstGeom>
        </p:spPr>
      </p:pic>
      <p:pic>
        <p:nvPicPr>
          <p:cNvPr id="22" name="rain_drop_10"/>
          <p:cNvPicPr/>
          <p:nvPr/>
        </p:nvPicPr>
        <p:blipFill>
          <a:blip ns2:embed="rId20"/>
          <a:stretch>
            <a:fillRect/>
          </a:stretch>
        </p:blipFill>
        <p:spPr>
          <a:xfrm>
            <a:off x="1990725" y="8772525"/>
            <a:ext cx="85725" cy="228600"/>
          </a:xfrm>
          <a:prstGeom prst="rect">
            <a:avLst/>
          </a:prstGeom>
        </p:spPr>
      </p:pic>
      <p:pic>
        <p:nvPicPr>
          <p:cNvPr id="23" name="rain_drop_11"/>
          <p:cNvPicPr/>
          <p:nvPr/>
        </p:nvPicPr>
        <p:blipFill>
          <a:blip ns2:embed="rId21"/>
          <a:stretch>
            <a:fillRect/>
          </a:stretch>
        </p:blipFill>
        <p:spPr>
          <a:xfrm>
            <a:off x="2257425" y="8867775"/>
            <a:ext cx="114300" cy="295275"/>
          </a:xfrm>
          <a:prstGeom prst="rect">
            <a:avLst/>
          </a:prstGeom>
        </p:spPr>
      </p:pic>
      <p:pic>
        <p:nvPicPr>
          <p:cNvPr id="24" name="rain_drop_12"/>
          <p:cNvPicPr/>
          <p:nvPr/>
        </p:nvPicPr>
        <p:blipFill>
          <a:blip ns2:embed="rId22"/>
          <a:stretch>
            <a:fillRect/>
          </a:stretch>
        </p:blipFill>
        <p:spPr>
          <a:xfrm>
            <a:off x="2752725" y="8886825"/>
            <a:ext cx="104775" cy="247650"/>
          </a:xfrm>
          <a:prstGeom prst="rect">
            <a:avLst/>
          </a:prstGeom>
        </p:spPr>
      </p:pic>
      <p:pic>
        <p:nvPicPr>
          <p:cNvPr id="25" name="rain_drop_13"/>
          <p:cNvPicPr/>
          <p:nvPr/>
        </p:nvPicPr>
        <p:blipFill>
          <a:blip ns2:embed="rId23"/>
          <a:stretch>
            <a:fillRect/>
          </a:stretch>
        </p:blipFill>
        <p:spPr>
          <a:xfrm>
            <a:off x="904875" y="8867775"/>
            <a:ext cx="114300" cy="295275"/>
          </a:xfrm>
          <a:prstGeom prst="rect">
            <a:avLst/>
          </a:prstGeom>
        </p:spPr>
      </p:pic>
      <p:pic>
        <p:nvPicPr>
          <p:cNvPr id="26" name="rain_drop_14"/>
          <p:cNvPicPr/>
          <p:nvPr/>
        </p:nvPicPr>
        <p:blipFill>
          <a:blip ns2:embed="rId24"/>
          <a:stretch>
            <a:fillRect/>
          </a:stretch>
        </p:blipFill>
        <p:spPr>
          <a:xfrm>
            <a:off x="3171825" y="9105900"/>
            <a:ext cx="114300" cy="257175"/>
          </a:xfrm>
          <a:prstGeom prst="rect">
            <a:avLst/>
          </a:prstGeom>
        </p:spPr>
      </p:pic>
      <p:pic>
        <p:nvPicPr>
          <p:cNvPr id="27" name="water_network"/>
          <p:cNvPicPr/>
          <p:nvPr/>
        </p:nvPicPr>
        <p:blipFill>
          <a:blip ns2:embed="rId7"/>
          <a:stretch>
            <a:fillRect/>
          </a:stretch>
        </p:blipFill>
        <p:spPr>
          <a:xfrm>
            <a:off x="1000125" y="9439275"/>
            <a:ext cx="2828925" cy="1571625"/>
          </a:xfrm>
          <a:prstGeom prst="rect">
            <a:avLst/>
          </a:prstGeom>
        </p:spPr>
      </p:pic>
      <p:cxnSp>
        <p:nvCxnSpPr>
          <p:cNvPr id="28" name="climate_to_water"/>
          <p:cNvCxnSpPr/>
          <p:nvPr/>
        </p:nvCxnSpPr>
        <p:spPr>
          <a:xfrm>
            <a:off x="3400425" y="5895975"/>
            <a:ext cx="457200" cy="1771650"/>
          </a:xfrm>
          <a:prstGeom prst="line">
            <a:avLst/>
          </a:prstGeom>
          <a:noFill/>
          <a:ln w="52069">
            <a:solidFill>
              <a:srgbClr val="3974B3"/>
            </a:solidFill>
            <a:tailEnd type="triangle" w="lg" len="lg"/>
          </a:ln>
        </p:spPr>
      </p:cxnSp>
      <p:cxnSp>
        <p:nvCxnSpPr>
          <p:cNvPr id="29" name="biocrust_to_energy"/>
          <p:cNvCxnSpPr/>
          <p:nvPr/>
        </p:nvCxnSpPr>
        <p:spPr>
          <a:xfrm flipH="1">
            <a:off x="8420100" y="6172200"/>
            <a:ext cx="409575" cy="1485900"/>
          </a:xfrm>
          <a:prstGeom prst="line">
            <a:avLst/>
          </a:prstGeom>
          <a:noFill/>
          <a:ln w="52069">
            <a:solidFill>
              <a:srgbClr val="3974B3"/>
            </a:solidFill>
            <a:tailEnd type="triangle" w="lg" len="lg"/>
          </a:ln>
        </p:spPr>
      </p:cxnSp>
      <p:cxnSp>
        <p:nvCxnSpPr>
          <p:cNvPr id="30" name="energy_down_left"/>
          <p:cNvCxnSpPr/>
          <p:nvPr/>
        </p:nvCxnSpPr>
        <p:spPr>
          <a:xfrm>
            <a:off x="8172450" y="8905875"/>
            <a:ext cx="704850" cy="790575"/>
          </a:xfrm>
          <a:prstGeom prst="line">
            <a:avLst/>
          </a:prstGeom>
          <a:noFill/>
          <a:ln w="40640">
            <a:solidFill>
              <a:srgbClr val="F49511"/>
            </a:solidFill>
            <a:tailEnd type="triangle" w="lg" len="lg"/>
          </a:ln>
        </p:spPr>
      </p:cxnSp>
      <p:cxnSp>
        <p:nvCxnSpPr>
          <p:cNvPr id="31" name="energy_down_right"/>
          <p:cNvCxnSpPr/>
          <p:nvPr/>
        </p:nvCxnSpPr>
        <p:spPr>
          <a:xfrm>
            <a:off x="8505825" y="8696325"/>
            <a:ext cx="790575" cy="876300"/>
          </a:xfrm>
          <a:prstGeom prst="line">
            <a:avLst/>
          </a:prstGeom>
          <a:noFill/>
          <a:ln w="43180">
            <a:solidFill>
              <a:srgbClr val="F49511"/>
            </a:solidFill>
            <a:tailEnd type="triangle" w="lg" len="lg"/>
          </a:ln>
        </p:spPr>
      </p:cxnSp>
      <p:cxnSp>
        <p:nvCxnSpPr>
          <p:cNvPr id="32" name="energy_up_left"/>
          <p:cNvCxnSpPr/>
          <p:nvPr/>
        </p:nvCxnSpPr>
        <p:spPr>
          <a:xfrm flipV="1">
            <a:off x="9572625" y="8963025"/>
            <a:ext cx="533400" cy="695325"/>
          </a:xfrm>
          <a:prstGeom prst="line">
            <a:avLst/>
          </a:prstGeom>
          <a:noFill/>
          <a:ln w="41910">
            <a:solidFill>
              <a:srgbClr val="F49511"/>
            </a:solidFill>
            <a:tailEnd type="triangle" w="lg" len="lg"/>
          </a:ln>
        </p:spPr>
      </p:cxnSp>
      <p:cxnSp>
        <p:nvCxnSpPr>
          <p:cNvPr id="33" name="energy_up_right"/>
          <p:cNvCxnSpPr/>
          <p:nvPr/>
        </p:nvCxnSpPr>
        <p:spPr>
          <a:xfrm flipV="1">
            <a:off x="9991725" y="9172575"/>
            <a:ext cx="447675" cy="695325"/>
          </a:xfrm>
          <a:prstGeom prst="line">
            <a:avLst/>
          </a:prstGeom>
          <a:noFill/>
          <a:ln w="39370">
            <a:solidFill>
              <a:srgbClr val="F6B439"/>
            </a:solidFill>
            <a:tailEnd type="triangle" w="lg" len="lg"/>
          </a:ln>
        </p:spPr>
      </p:cxnSp>
      <p:sp>
        <p:nvSpPr>
          <p:cNvPr id="34" name="feedback_curve"/>
          <p:cNvSpPr/>
          <p:nvPr/>
        </p:nvSpPr>
        <p:spPr>
          <a:xfrm>
            <a:off x="1581150" y="5505450"/>
            <a:ext cx="1790700" cy="2133600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21140" y="21407"/>
                </a:moveTo>
                <a:cubicBezTo>
                  <a:pt x="574" y="17261"/>
                  <a:pt x="-3332" y="9354"/>
                  <a:pt x="2757" y="1061"/>
                </a:cubicBezTo>
              </a:path>
            </a:pathLst>
          </a:custGeom>
          <a:noFill/>
          <a:ln w="45720">
            <a:solidFill>
              <a:srgbClr val="3974B3"/>
            </a:solidFill>
            <a:tailEnd type="triangle" w="lg" len="lg"/>
          </a:ln>
        </p:spPr>
        <p:txBody>
          <a:bodyPr/>
          <a:lstStyle/>
          <a:p/>
        </p:txBody>
      </p:sp>
      <p:sp>
        <p:nvSpPr>
          <p:cNvPr id="35" name="carbon_down_curve"/>
          <p:cNvSpPr/>
          <p:nvPr/>
        </p:nvSpPr>
        <p:spPr>
          <a:xfrm>
            <a:off x="4657725" y="8534400"/>
            <a:ext cx="723900" cy="800100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568" y="514"/>
                </a:moveTo>
                <a:cubicBezTo>
                  <a:pt x="10800" y="2571"/>
                  <a:pt x="16768" y="8486"/>
                  <a:pt x="19042" y="20829"/>
                </a:cubicBezTo>
              </a:path>
            </a:pathLst>
          </a:custGeom>
          <a:noFill/>
          <a:ln w="35560">
            <a:solidFill>
              <a:srgbClr val="4B6040"/>
            </a:solidFill>
            <a:tailEnd type="triangle" w="lg" len="lg"/>
          </a:ln>
        </p:spPr>
        <p:txBody>
          <a:bodyPr/>
          <a:lstStyle/>
          <a:p/>
        </p:txBody>
      </p:sp>
      <p:sp>
        <p:nvSpPr>
          <p:cNvPr id="36" name="carbon_up_curve"/>
          <p:cNvSpPr/>
          <p:nvPr/>
        </p:nvSpPr>
        <p:spPr>
          <a:xfrm>
            <a:off x="6410325" y="8724900"/>
            <a:ext cx="828675" cy="866775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248" y="21363"/>
                </a:moveTo>
                <a:cubicBezTo>
                  <a:pt x="11421" y="18514"/>
                  <a:pt x="17628" y="13055"/>
                  <a:pt x="20359" y="712"/>
                </a:cubicBezTo>
              </a:path>
            </a:pathLst>
          </a:custGeom>
          <a:noFill/>
          <a:ln w="35560">
            <a:solidFill>
              <a:srgbClr val="4B6040"/>
            </a:solidFill>
            <a:tailEnd type="triangle" w="lg" len="lg"/>
          </a:ln>
        </p:spPr>
        <p:txBody>
          <a:bodyPr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1219200" y="942975"/>
            <a:ext cx="4086225" cy="647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180" b="1">
                <a:solidFill>
                  <a:srgbClr val="27333D"/>
                </a:solidFill>
                <a:latin typeface="Trebuchet MS"/>
                <a:ea typeface="Trebuchet MS"/>
                <a:cs typeface="Trebuchet MS"/>
              </a:rPr>
              <a:t>Climate change</a:t>
            </a:r>
            <a:endParaRPr lang="zh-CN" sz="4180"/>
          </a:p>
        </p:txBody>
      </p:sp>
      <p:sp>
        <p:nvSpPr>
          <p:cNvPr id="38" name="TextBox 38"/>
          <p:cNvSpPr txBox="1"/>
          <p:nvPr/>
        </p:nvSpPr>
        <p:spPr>
          <a:xfrm>
            <a:off x="7877175" y="1352550"/>
            <a:ext cx="2381250" cy="6000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200" b="1">
                <a:solidFill>
                  <a:srgbClr val="27333D"/>
                </a:solidFill>
                <a:latin typeface="Trebuchet MS"/>
                <a:ea typeface="Trebuchet MS"/>
                <a:cs typeface="Trebuchet MS"/>
              </a:rPr>
              <a:t>Biocrusts</a:t>
            </a:r>
            <a:endParaRPr lang="zh-CN" sz="4200"/>
          </a:p>
        </p:txBody>
      </p:sp>
      <p:sp>
        <p:nvSpPr>
          <p:cNvPr id="39" name="TextBox 39"/>
          <p:cNvSpPr txBox="1"/>
          <p:nvPr/>
        </p:nvSpPr>
        <p:spPr>
          <a:xfrm>
            <a:off x="1619250" y="7981950"/>
            <a:ext cx="1295400" cy="514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250" b="1">
                <a:solidFill>
                  <a:srgbClr val="27333D"/>
                </a:solidFill>
                <a:latin typeface="Trebuchet MS"/>
                <a:ea typeface="Trebuchet MS"/>
                <a:cs typeface="Trebuchet MS"/>
              </a:rPr>
              <a:t>Water</a:t>
            </a:r>
            <a:endParaRPr lang="zh-CN" sz="3250"/>
          </a:p>
        </p:txBody>
      </p:sp>
      <p:sp>
        <p:nvSpPr>
          <p:cNvPr id="40" name="TextBox 40"/>
          <p:cNvSpPr txBox="1"/>
          <p:nvPr/>
        </p:nvSpPr>
        <p:spPr>
          <a:xfrm>
            <a:off x="5276850" y="7981950"/>
            <a:ext cx="1533525" cy="54292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250" b="1">
                <a:solidFill>
                  <a:srgbClr val="27333D"/>
                </a:solidFill>
                <a:latin typeface="Trebuchet MS"/>
                <a:ea typeface="Trebuchet MS"/>
                <a:cs typeface="Trebuchet MS"/>
              </a:rPr>
              <a:t>Carbon</a:t>
            </a:r>
            <a:endParaRPr lang="zh-CN" sz="3250"/>
          </a:p>
        </p:txBody>
      </p:sp>
      <p:sp>
        <p:nvSpPr>
          <p:cNvPr id="41" name="TextBox 41"/>
          <p:cNvSpPr txBox="1"/>
          <p:nvPr/>
        </p:nvSpPr>
        <p:spPr>
          <a:xfrm>
            <a:off x="9077325" y="7972425"/>
            <a:ext cx="1438275" cy="552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250" b="1">
                <a:solidFill>
                  <a:srgbClr val="27333D"/>
                </a:solidFill>
                <a:latin typeface="Trebuchet MS"/>
                <a:ea typeface="Trebuchet MS"/>
                <a:cs typeface="Trebuchet MS"/>
              </a:rPr>
              <a:t>Energy</a:t>
            </a:r>
            <a:endParaRPr lang="zh-CN" sz="3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field-ray"/>
          <p:cNvCxnSpPr/>
          <p:nvPr/>
        </p:nvCxnSpPr>
        <p:spPr>
          <a:xfrm>
            <a:off x="1571625" y="4857750"/>
            <a:ext cx="609600" cy="1171575"/>
          </a:xfrm>
          <a:prstGeom prst="line">
            <a:avLst/>
          </a:prstGeom>
          <a:noFill/>
          <a:ln w="26670">
            <a:solidFill>
              <a:srgbClr val="5D8ECC"/>
            </a:solidFill>
            <a:tailEnd type="triangle" w="lg" len="lg"/>
          </a:ln>
        </p:spPr>
      </p:cxnSp>
      <p:cxnSp>
        <p:nvCxnSpPr>
          <p:cNvPr id="3" name="airborne-ray"/>
          <p:cNvCxnSpPr/>
          <p:nvPr/>
        </p:nvCxnSpPr>
        <p:spPr>
          <a:xfrm>
            <a:off x="5229225" y="3190875"/>
            <a:ext cx="1104900" cy="3009900"/>
          </a:xfrm>
          <a:prstGeom prst="line">
            <a:avLst/>
          </a:prstGeom>
          <a:noFill/>
          <a:ln w="26670">
            <a:solidFill>
              <a:srgbClr val="739ACF"/>
            </a:solidFill>
            <a:tailEnd type="triangle" w="lg" len="lg"/>
          </a:ln>
        </p:spPr>
      </p:cxnSp>
      <p:cxnSp>
        <p:nvCxnSpPr>
          <p:cNvPr id="4" name="satellite-ray"/>
          <p:cNvCxnSpPr/>
          <p:nvPr/>
        </p:nvCxnSpPr>
        <p:spPr>
          <a:xfrm>
            <a:off x="8553450" y="2181225"/>
            <a:ext cx="1657350" cy="5057775"/>
          </a:xfrm>
          <a:prstGeom prst="line">
            <a:avLst/>
          </a:prstGeom>
          <a:noFill/>
          <a:ln w="26670">
            <a:solidFill>
              <a:srgbClr val="769CCE"/>
            </a:solidFill>
            <a:tailEnd type="triangle" w="lg" len="lg"/>
          </a:ln>
        </p:spPr>
      </p:cxnSp>
      <p:cxnSp>
        <p:nvCxnSpPr>
          <p:cNvPr id="5" name="spectral-axis-y"/>
          <p:cNvCxnSpPr/>
          <p:nvPr/>
        </p:nvCxnSpPr>
        <p:spPr>
          <a:xfrm flipV="1">
            <a:off x="952500" y="9124950"/>
            <a:ext cx="0" cy="2247900"/>
          </a:xfrm>
          <a:prstGeom prst="line">
            <a:avLst/>
          </a:prstGeom>
          <a:noFill/>
          <a:ln w="25400">
            <a:solidFill>
              <a:srgbClr val="2B3743"/>
            </a:solidFill>
            <a:tailEnd type="stealth" w="lg" len="lg"/>
          </a:ln>
        </p:spPr>
      </p:cxnSp>
      <p:cxnSp>
        <p:nvCxnSpPr>
          <p:cNvPr id="6" name="spectral-axis-x"/>
          <p:cNvCxnSpPr/>
          <p:nvPr/>
        </p:nvCxnSpPr>
        <p:spPr>
          <a:xfrm>
            <a:off x="952500" y="11372850"/>
            <a:ext cx="10420350" cy="0"/>
          </a:xfrm>
          <a:prstGeom prst="line">
            <a:avLst/>
          </a:prstGeom>
          <a:noFill/>
          <a:ln w="25400">
            <a:solidFill>
              <a:srgbClr val="2B3743"/>
            </a:solidFill>
            <a:tailEnd type="stealth" w="lg" len="lg"/>
          </a:ln>
        </p:spPr>
      </p:cxnSp>
      <p:sp>
        <p:nvSpPr>
          <p:cNvPr id="7" name="green-spectrum"/>
          <p:cNvSpPr/>
          <p:nvPr/>
        </p:nvSpPr>
        <p:spPr>
          <a:xfrm>
            <a:off x="952500" y="9334500"/>
            <a:ext cx="10077450" cy="1905000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20" y="20930"/>
                </a:moveTo>
                <a:cubicBezTo>
                  <a:pt x="143" y="20820"/>
                  <a:pt x="265" y="20629"/>
                  <a:pt x="388" y="20411"/>
                </a:cubicBezTo>
                <a:cubicBezTo>
                  <a:pt x="510" y="20194"/>
                  <a:pt x="633" y="20019"/>
                  <a:pt x="755" y="19785"/>
                </a:cubicBezTo>
                <a:cubicBezTo>
                  <a:pt x="878" y="19551"/>
                  <a:pt x="1000" y="19254"/>
                  <a:pt x="1123" y="18915"/>
                </a:cubicBezTo>
                <a:cubicBezTo>
                  <a:pt x="1245" y="18575"/>
                  <a:pt x="1368" y="18179"/>
                  <a:pt x="1490" y="17716"/>
                </a:cubicBezTo>
                <a:cubicBezTo>
                  <a:pt x="1613" y="17254"/>
                  <a:pt x="1735" y="16742"/>
                  <a:pt x="1858" y="16195"/>
                </a:cubicBezTo>
                <a:cubicBezTo>
                  <a:pt x="1980" y="15648"/>
                  <a:pt x="2103" y="15009"/>
                  <a:pt x="2225" y="14525"/>
                </a:cubicBezTo>
                <a:cubicBezTo>
                  <a:pt x="2348" y="14041"/>
                  <a:pt x="2470" y="13668"/>
                  <a:pt x="2593" y="13044"/>
                </a:cubicBezTo>
                <a:cubicBezTo>
                  <a:pt x="2715" y="12419"/>
                  <a:pt x="2838" y="11619"/>
                  <a:pt x="2960" y="10716"/>
                </a:cubicBezTo>
                <a:cubicBezTo>
                  <a:pt x="3083" y="9813"/>
                  <a:pt x="3205" y="8886"/>
                  <a:pt x="3328" y="8253"/>
                </a:cubicBezTo>
                <a:cubicBezTo>
                  <a:pt x="3450" y="7620"/>
                  <a:pt x="3573" y="7292"/>
                  <a:pt x="3695" y="7194"/>
                </a:cubicBezTo>
                <a:cubicBezTo>
                  <a:pt x="3818" y="7096"/>
                  <a:pt x="3940" y="7150"/>
                  <a:pt x="4063" y="7327"/>
                </a:cubicBezTo>
                <a:cubicBezTo>
                  <a:pt x="4185" y="7504"/>
                  <a:pt x="4308" y="7777"/>
                  <a:pt x="4430" y="8099"/>
                </a:cubicBezTo>
                <a:cubicBezTo>
                  <a:pt x="4553" y="8421"/>
                  <a:pt x="4675" y="8751"/>
                  <a:pt x="4798" y="9076"/>
                </a:cubicBezTo>
                <a:cubicBezTo>
                  <a:pt x="4920" y="9400"/>
                  <a:pt x="5043" y="9724"/>
                  <a:pt x="5165" y="9915"/>
                </a:cubicBezTo>
                <a:cubicBezTo>
                  <a:pt x="5288" y="10108"/>
                  <a:pt x="5410" y="10174"/>
                  <a:pt x="5533" y="10148"/>
                </a:cubicBezTo>
                <a:cubicBezTo>
                  <a:pt x="5655" y="10123"/>
                  <a:pt x="5778" y="9986"/>
                  <a:pt x="5900" y="9683"/>
                </a:cubicBezTo>
                <a:cubicBezTo>
                  <a:pt x="6023" y="9380"/>
                  <a:pt x="6145" y="8918"/>
                  <a:pt x="6268" y="7896"/>
                </a:cubicBezTo>
                <a:cubicBezTo>
                  <a:pt x="6390" y="6875"/>
                  <a:pt x="6513" y="5172"/>
                  <a:pt x="6635" y="3913"/>
                </a:cubicBezTo>
                <a:cubicBezTo>
                  <a:pt x="6758" y="2654"/>
                  <a:pt x="6880" y="1832"/>
                  <a:pt x="7003" y="1327"/>
                </a:cubicBezTo>
                <a:cubicBezTo>
                  <a:pt x="7125" y="824"/>
                  <a:pt x="7248" y="633"/>
                  <a:pt x="7370" y="602"/>
                </a:cubicBezTo>
                <a:cubicBezTo>
                  <a:pt x="7493" y="570"/>
                  <a:pt x="7615" y="692"/>
                  <a:pt x="7738" y="824"/>
                </a:cubicBezTo>
                <a:cubicBezTo>
                  <a:pt x="7860" y="956"/>
                  <a:pt x="7983" y="1104"/>
                  <a:pt x="8105" y="1130"/>
                </a:cubicBezTo>
                <a:cubicBezTo>
                  <a:pt x="8228" y="1155"/>
                  <a:pt x="8350" y="1084"/>
                  <a:pt x="8473" y="1140"/>
                </a:cubicBezTo>
                <a:cubicBezTo>
                  <a:pt x="8595" y="1198"/>
                  <a:pt x="8718" y="1490"/>
                  <a:pt x="8840" y="1703"/>
                </a:cubicBezTo>
                <a:cubicBezTo>
                  <a:pt x="8963" y="1916"/>
                  <a:pt x="9085" y="1989"/>
                  <a:pt x="9208" y="1993"/>
                </a:cubicBezTo>
                <a:cubicBezTo>
                  <a:pt x="9330" y="1995"/>
                  <a:pt x="9453" y="1936"/>
                  <a:pt x="9575" y="1838"/>
                </a:cubicBezTo>
                <a:cubicBezTo>
                  <a:pt x="9698" y="1740"/>
                  <a:pt x="9820" y="1662"/>
                  <a:pt x="9943" y="1592"/>
                </a:cubicBezTo>
                <a:cubicBezTo>
                  <a:pt x="10065" y="1523"/>
                  <a:pt x="10188" y="1476"/>
                  <a:pt x="10310" y="1648"/>
                </a:cubicBezTo>
                <a:cubicBezTo>
                  <a:pt x="10433" y="1820"/>
                  <a:pt x="10555" y="2217"/>
                  <a:pt x="10678" y="3209"/>
                </a:cubicBezTo>
                <a:cubicBezTo>
                  <a:pt x="10800" y="4200"/>
                  <a:pt x="10922" y="5886"/>
                  <a:pt x="11045" y="6891"/>
                </a:cubicBezTo>
                <a:cubicBezTo>
                  <a:pt x="11167" y="7896"/>
                  <a:pt x="11290" y="7844"/>
                  <a:pt x="11412" y="7899"/>
                </a:cubicBezTo>
                <a:cubicBezTo>
                  <a:pt x="11535" y="7954"/>
                  <a:pt x="11657" y="8935"/>
                  <a:pt x="11780" y="10236"/>
                </a:cubicBezTo>
                <a:cubicBezTo>
                  <a:pt x="11902" y="11537"/>
                  <a:pt x="12025" y="12707"/>
                  <a:pt x="12147" y="13039"/>
                </a:cubicBezTo>
                <a:cubicBezTo>
                  <a:pt x="12270" y="13370"/>
                  <a:pt x="12392" y="13022"/>
                  <a:pt x="12515" y="12461"/>
                </a:cubicBezTo>
                <a:cubicBezTo>
                  <a:pt x="12637" y="11901"/>
                  <a:pt x="12760" y="11224"/>
                  <a:pt x="12882" y="10652"/>
                </a:cubicBezTo>
                <a:cubicBezTo>
                  <a:pt x="13005" y="10081"/>
                  <a:pt x="13127" y="9581"/>
                  <a:pt x="13250" y="9124"/>
                </a:cubicBezTo>
                <a:cubicBezTo>
                  <a:pt x="13372" y="8667"/>
                  <a:pt x="13495" y="8225"/>
                  <a:pt x="13617" y="7852"/>
                </a:cubicBezTo>
                <a:cubicBezTo>
                  <a:pt x="13740" y="7478"/>
                  <a:pt x="13862" y="7190"/>
                  <a:pt x="13985" y="7111"/>
                </a:cubicBezTo>
                <a:cubicBezTo>
                  <a:pt x="14107" y="7032"/>
                  <a:pt x="14230" y="7242"/>
                  <a:pt x="14352" y="7557"/>
                </a:cubicBezTo>
                <a:cubicBezTo>
                  <a:pt x="14475" y="7870"/>
                  <a:pt x="14597" y="8266"/>
                  <a:pt x="14720" y="8591"/>
                </a:cubicBezTo>
                <a:cubicBezTo>
                  <a:pt x="14842" y="8916"/>
                  <a:pt x="14965" y="9171"/>
                  <a:pt x="15087" y="9363"/>
                </a:cubicBezTo>
                <a:cubicBezTo>
                  <a:pt x="15210" y="9554"/>
                  <a:pt x="15332" y="9641"/>
                  <a:pt x="15455" y="9725"/>
                </a:cubicBezTo>
                <a:cubicBezTo>
                  <a:pt x="15577" y="9810"/>
                  <a:pt x="15700" y="9873"/>
                  <a:pt x="15822" y="9995"/>
                </a:cubicBezTo>
                <a:cubicBezTo>
                  <a:pt x="15945" y="10116"/>
                  <a:pt x="16067" y="10317"/>
                  <a:pt x="16190" y="10595"/>
                </a:cubicBezTo>
                <a:cubicBezTo>
                  <a:pt x="16312" y="10872"/>
                  <a:pt x="16435" y="11221"/>
                  <a:pt x="16557" y="11629"/>
                </a:cubicBezTo>
                <a:cubicBezTo>
                  <a:pt x="16680" y="12038"/>
                  <a:pt x="16802" y="12479"/>
                  <a:pt x="16925" y="12842"/>
                </a:cubicBezTo>
                <a:cubicBezTo>
                  <a:pt x="17047" y="13205"/>
                  <a:pt x="17170" y="13441"/>
                  <a:pt x="17292" y="13541"/>
                </a:cubicBezTo>
                <a:cubicBezTo>
                  <a:pt x="17415" y="13643"/>
                  <a:pt x="17537" y="13613"/>
                  <a:pt x="17660" y="13719"/>
                </a:cubicBezTo>
                <a:cubicBezTo>
                  <a:pt x="17782" y="13825"/>
                  <a:pt x="17905" y="14095"/>
                  <a:pt x="18027" y="14812"/>
                </a:cubicBezTo>
                <a:cubicBezTo>
                  <a:pt x="18150" y="15530"/>
                  <a:pt x="18272" y="16095"/>
                  <a:pt x="18395" y="16043"/>
                </a:cubicBezTo>
                <a:cubicBezTo>
                  <a:pt x="18517" y="15990"/>
                  <a:pt x="18640" y="15468"/>
                  <a:pt x="18762" y="15155"/>
                </a:cubicBezTo>
                <a:cubicBezTo>
                  <a:pt x="18885" y="14841"/>
                  <a:pt x="19007" y="14730"/>
                  <a:pt x="19130" y="14910"/>
                </a:cubicBezTo>
                <a:cubicBezTo>
                  <a:pt x="19252" y="15092"/>
                  <a:pt x="19375" y="15602"/>
                  <a:pt x="19497" y="16036"/>
                </a:cubicBezTo>
                <a:cubicBezTo>
                  <a:pt x="19620" y="16469"/>
                  <a:pt x="19742" y="16789"/>
                  <a:pt x="19865" y="17062"/>
                </a:cubicBezTo>
                <a:cubicBezTo>
                  <a:pt x="19987" y="17336"/>
                  <a:pt x="20110" y="17537"/>
                  <a:pt x="20232" y="17720"/>
                </a:cubicBezTo>
                <a:cubicBezTo>
                  <a:pt x="20355" y="17902"/>
                  <a:pt x="20477" y="18086"/>
                  <a:pt x="20600" y="18228"/>
                </a:cubicBezTo>
                <a:cubicBezTo>
                  <a:pt x="20722" y="18370"/>
                  <a:pt x="20845" y="18499"/>
                  <a:pt x="20967" y="18630"/>
                </a:cubicBezTo>
                <a:cubicBezTo>
                  <a:pt x="21090" y="18762"/>
                  <a:pt x="21212" y="18868"/>
                  <a:pt x="21335" y="18979"/>
                </a:cubicBezTo>
                <a:cubicBezTo>
                  <a:pt x="21423" y="19059"/>
                  <a:pt x="21512" y="19164"/>
                  <a:pt x="21600" y="19173"/>
                </a:cubicBezTo>
              </a:path>
            </a:pathLst>
          </a:custGeom>
          <a:noFill/>
          <a:ln w="38100">
            <a:solidFill>
              <a:srgbClr val="778D64"/>
            </a:solidFill>
          </a:ln>
        </p:spPr>
        <p:txBody>
          <a:bodyPr/>
          <a:lstStyle/>
          <a:p/>
        </p:txBody>
      </p:sp>
      <p:sp>
        <p:nvSpPr>
          <p:cNvPr id="8" name="blue-spectrum"/>
          <p:cNvSpPr/>
          <p:nvPr/>
        </p:nvSpPr>
        <p:spPr>
          <a:xfrm>
            <a:off x="952500" y="10144125"/>
            <a:ext cx="10077450" cy="1095375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20" y="21100"/>
                </a:moveTo>
                <a:cubicBezTo>
                  <a:pt x="143" y="21014"/>
                  <a:pt x="265" y="20886"/>
                  <a:pt x="388" y="20781"/>
                </a:cubicBezTo>
                <a:cubicBezTo>
                  <a:pt x="510" y="20676"/>
                  <a:pt x="633" y="20597"/>
                  <a:pt x="755" y="20398"/>
                </a:cubicBezTo>
                <a:cubicBezTo>
                  <a:pt x="878" y="20197"/>
                  <a:pt x="1000" y="19900"/>
                  <a:pt x="1123" y="19339"/>
                </a:cubicBezTo>
                <a:cubicBezTo>
                  <a:pt x="1245" y="18779"/>
                  <a:pt x="1368" y="17875"/>
                  <a:pt x="1490" y="17180"/>
                </a:cubicBezTo>
                <a:cubicBezTo>
                  <a:pt x="1613" y="16485"/>
                  <a:pt x="1735" y="16121"/>
                  <a:pt x="1858" y="15896"/>
                </a:cubicBezTo>
                <a:cubicBezTo>
                  <a:pt x="1980" y="15672"/>
                  <a:pt x="2103" y="15460"/>
                  <a:pt x="2225" y="14919"/>
                </a:cubicBezTo>
                <a:cubicBezTo>
                  <a:pt x="2348" y="14378"/>
                  <a:pt x="2470" y="13497"/>
                  <a:pt x="2593" y="12658"/>
                </a:cubicBezTo>
                <a:cubicBezTo>
                  <a:pt x="2715" y="11818"/>
                  <a:pt x="2838" y="11065"/>
                  <a:pt x="2960" y="10238"/>
                </a:cubicBezTo>
                <a:cubicBezTo>
                  <a:pt x="3083" y="9410"/>
                  <a:pt x="3205" y="8527"/>
                  <a:pt x="3328" y="7648"/>
                </a:cubicBezTo>
                <a:cubicBezTo>
                  <a:pt x="3450" y="6769"/>
                  <a:pt x="3573" y="5932"/>
                  <a:pt x="3695" y="5139"/>
                </a:cubicBezTo>
                <a:cubicBezTo>
                  <a:pt x="3818" y="4348"/>
                  <a:pt x="3940" y="3698"/>
                  <a:pt x="4063" y="3343"/>
                </a:cubicBezTo>
                <a:cubicBezTo>
                  <a:pt x="4185" y="2988"/>
                  <a:pt x="4308" y="2971"/>
                  <a:pt x="4430" y="3263"/>
                </a:cubicBezTo>
                <a:cubicBezTo>
                  <a:pt x="4553" y="3556"/>
                  <a:pt x="4675" y="4258"/>
                  <a:pt x="4798" y="4936"/>
                </a:cubicBezTo>
                <a:cubicBezTo>
                  <a:pt x="4920" y="5616"/>
                  <a:pt x="5043" y="6198"/>
                  <a:pt x="5165" y="6365"/>
                </a:cubicBezTo>
                <a:cubicBezTo>
                  <a:pt x="5288" y="6533"/>
                  <a:pt x="5410" y="6420"/>
                  <a:pt x="5533" y="6863"/>
                </a:cubicBezTo>
                <a:cubicBezTo>
                  <a:pt x="5655" y="7306"/>
                  <a:pt x="5778" y="8418"/>
                  <a:pt x="5900" y="8941"/>
                </a:cubicBezTo>
                <a:cubicBezTo>
                  <a:pt x="6023" y="9465"/>
                  <a:pt x="6145" y="9213"/>
                  <a:pt x="6268" y="7592"/>
                </a:cubicBezTo>
                <a:cubicBezTo>
                  <a:pt x="6390" y="5971"/>
                  <a:pt x="6513" y="3152"/>
                  <a:pt x="6635" y="1777"/>
                </a:cubicBezTo>
                <a:cubicBezTo>
                  <a:pt x="6758" y="402"/>
                  <a:pt x="6880" y="295"/>
                  <a:pt x="7003" y="1411"/>
                </a:cubicBezTo>
                <a:cubicBezTo>
                  <a:pt x="7125" y="2526"/>
                  <a:pt x="7248" y="4923"/>
                  <a:pt x="7370" y="7120"/>
                </a:cubicBezTo>
                <a:cubicBezTo>
                  <a:pt x="7493" y="9318"/>
                  <a:pt x="7615" y="11142"/>
                  <a:pt x="7738" y="12132"/>
                </a:cubicBezTo>
                <a:cubicBezTo>
                  <a:pt x="7860" y="13123"/>
                  <a:pt x="7983" y="13452"/>
                  <a:pt x="8105" y="13569"/>
                </a:cubicBezTo>
                <a:cubicBezTo>
                  <a:pt x="8228" y="13685"/>
                  <a:pt x="8350" y="13595"/>
                  <a:pt x="8473" y="13497"/>
                </a:cubicBezTo>
                <a:cubicBezTo>
                  <a:pt x="8595" y="13401"/>
                  <a:pt x="8718" y="13202"/>
                  <a:pt x="8840" y="13257"/>
                </a:cubicBezTo>
                <a:cubicBezTo>
                  <a:pt x="8963" y="13311"/>
                  <a:pt x="9085" y="13606"/>
                  <a:pt x="9208" y="14079"/>
                </a:cubicBezTo>
                <a:cubicBezTo>
                  <a:pt x="9330" y="14553"/>
                  <a:pt x="9453" y="15201"/>
                  <a:pt x="9575" y="15729"/>
                </a:cubicBezTo>
                <a:cubicBezTo>
                  <a:pt x="9698" y="16258"/>
                  <a:pt x="9820" y="16589"/>
                  <a:pt x="9943" y="16732"/>
                </a:cubicBezTo>
                <a:cubicBezTo>
                  <a:pt x="10065" y="16876"/>
                  <a:pt x="10188" y="16839"/>
                  <a:pt x="10310" y="17004"/>
                </a:cubicBezTo>
                <a:cubicBezTo>
                  <a:pt x="10433" y="17169"/>
                  <a:pt x="10555" y="17560"/>
                  <a:pt x="10678" y="17900"/>
                </a:cubicBezTo>
                <a:cubicBezTo>
                  <a:pt x="10800" y="18242"/>
                  <a:pt x="10922" y="18429"/>
                  <a:pt x="11045" y="18608"/>
                </a:cubicBezTo>
                <a:cubicBezTo>
                  <a:pt x="11167" y="18788"/>
                  <a:pt x="11290" y="18922"/>
                  <a:pt x="11412" y="19017"/>
                </a:cubicBezTo>
                <a:cubicBezTo>
                  <a:pt x="11535" y="19115"/>
                  <a:pt x="11657" y="19183"/>
                  <a:pt x="11780" y="19181"/>
                </a:cubicBezTo>
                <a:cubicBezTo>
                  <a:pt x="11902" y="19179"/>
                  <a:pt x="12025" y="19119"/>
                  <a:pt x="12147" y="18745"/>
                </a:cubicBezTo>
                <a:cubicBezTo>
                  <a:pt x="12270" y="18369"/>
                  <a:pt x="12392" y="17716"/>
                  <a:pt x="12515" y="16869"/>
                </a:cubicBezTo>
                <a:cubicBezTo>
                  <a:pt x="12637" y="16022"/>
                  <a:pt x="12760" y="15103"/>
                  <a:pt x="12882" y="14200"/>
                </a:cubicBezTo>
                <a:cubicBezTo>
                  <a:pt x="13005" y="13296"/>
                  <a:pt x="13127" y="12449"/>
                  <a:pt x="13250" y="11673"/>
                </a:cubicBezTo>
                <a:cubicBezTo>
                  <a:pt x="13372" y="10896"/>
                  <a:pt x="13495" y="10167"/>
                  <a:pt x="13617" y="9491"/>
                </a:cubicBezTo>
                <a:cubicBezTo>
                  <a:pt x="13740" y="8815"/>
                  <a:pt x="13862" y="8261"/>
                  <a:pt x="13985" y="8165"/>
                </a:cubicBezTo>
                <a:cubicBezTo>
                  <a:pt x="14107" y="8067"/>
                  <a:pt x="14230" y="8287"/>
                  <a:pt x="14352" y="8574"/>
                </a:cubicBezTo>
                <a:cubicBezTo>
                  <a:pt x="14475" y="8862"/>
                  <a:pt x="14597" y="9155"/>
                  <a:pt x="14720" y="9391"/>
                </a:cubicBezTo>
                <a:cubicBezTo>
                  <a:pt x="14842" y="9630"/>
                  <a:pt x="14965" y="9865"/>
                  <a:pt x="15087" y="10118"/>
                </a:cubicBezTo>
                <a:cubicBezTo>
                  <a:pt x="15210" y="10370"/>
                  <a:pt x="15332" y="10627"/>
                  <a:pt x="15455" y="11001"/>
                </a:cubicBezTo>
                <a:cubicBezTo>
                  <a:pt x="15577" y="11377"/>
                  <a:pt x="15700" y="11803"/>
                  <a:pt x="15822" y="12218"/>
                </a:cubicBezTo>
                <a:cubicBezTo>
                  <a:pt x="15945" y="12633"/>
                  <a:pt x="16067" y="13054"/>
                  <a:pt x="16190" y="13441"/>
                </a:cubicBezTo>
                <a:cubicBezTo>
                  <a:pt x="16312" y="13828"/>
                  <a:pt x="16435" y="14179"/>
                  <a:pt x="16557" y="14536"/>
                </a:cubicBezTo>
                <a:cubicBezTo>
                  <a:pt x="16680" y="14895"/>
                  <a:pt x="16802" y="15242"/>
                  <a:pt x="16925" y="15533"/>
                </a:cubicBezTo>
                <a:cubicBezTo>
                  <a:pt x="17047" y="15824"/>
                  <a:pt x="17170" y="16044"/>
                  <a:pt x="17292" y="16168"/>
                </a:cubicBezTo>
                <a:cubicBezTo>
                  <a:pt x="17415" y="16292"/>
                  <a:pt x="17537" y="16358"/>
                  <a:pt x="17660" y="16454"/>
                </a:cubicBezTo>
                <a:cubicBezTo>
                  <a:pt x="17782" y="16549"/>
                  <a:pt x="17905" y="16655"/>
                  <a:pt x="18027" y="16989"/>
                </a:cubicBezTo>
                <a:cubicBezTo>
                  <a:pt x="18150" y="17323"/>
                  <a:pt x="18272" y="17753"/>
                  <a:pt x="18395" y="17704"/>
                </a:cubicBezTo>
                <a:cubicBezTo>
                  <a:pt x="18517" y="17656"/>
                  <a:pt x="18640" y="17205"/>
                  <a:pt x="18762" y="16822"/>
                </a:cubicBezTo>
                <a:cubicBezTo>
                  <a:pt x="18885" y="16439"/>
                  <a:pt x="19007" y="16164"/>
                  <a:pt x="19130" y="16202"/>
                </a:cubicBezTo>
                <a:cubicBezTo>
                  <a:pt x="19252" y="16238"/>
                  <a:pt x="19375" y="16476"/>
                  <a:pt x="19497" y="16780"/>
                </a:cubicBezTo>
                <a:cubicBezTo>
                  <a:pt x="19620" y="17083"/>
                  <a:pt x="19742" y="17410"/>
                  <a:pt x="19865" y="17665"/>
                </a:cubicBezTo>
                <a:cubicBezTo>
                  <a:pt x="19987" y="17919"/>
                  <a:pt x="20110" y="18131"/>
                  <a:pt x="20232" y="18298"/>
                </a:cubicBezTo>
                <a:cubicBezTo>
                  <a:pt x="20355" y="18463"/>
                  <a:pt x="20477" y="18615"/>
                  <a:pt x="20600" y="18713"/>
                </a:cubicBezTo>
                <a:cubicBezTo>
                  <a:pt x="20722" y="18811"/>
                  <a:pt x="20845" y="18897"/>
                  <a:pt x="20967" y="18987"/>
                </a:cubicBezTo>
                <a:cubicBezTo>
                  <a:pt x="21090" y="19076"/>
                  <a:pt x="21212" y="19141"/>
                  <a:pt x="21335" y="19215"/>
                </a:cubicBezTo>
                <a:cubicBezTo>
                  <a:pt x="21423" y="19267"/>
                  <a:pt x="21512" y="19314"/>
                  <a:pt x="21600" y="19357"/>
                </a:cubicBezTo>
              </a:path>
            </a:pathLst>
          </a:custGeom>
          <a:noFill/>
          <a:ln w="38100">
            <a:solidFill>
              <a:srgbClr val="4279BB"/>
            </a:solidFill>
          </a:ln>
        </p:spPr>
        <p:txBody>
          <a:bodyPr/>
          <a:lstStyle/>
          <a:p/>
        </p:txBody>
      </p:sp>
      <p:pic>
        <p:nvPicPr>
          <p:cNvPr id="9" name="field-instrument source-faithful separated illustration"/>
          <p:cNvPicPr/>
          <p:nvPr/>
        </p:nvPicPr>
        <p:blipFill>
          <a:blip ns2:embed="rId2"/>
          <a:stretch>
            <a:fillRect/>
          </a:stretch>
        </p:blipFill>
        <p:spPr>
          <a:xfrm>
            <a:off x="361950" y="3095625"/>
            <a:ext cx="2371725" cy="1990725"/>
          </a:xfrm>
          <a:prstGeom prst="rect">
            <a:avLst/>
          </a:prstGeom>
        </p:spPr>
      </p:pic>
      <p:pic>
        <p:nvPicPr>
          <p:cNvPr id="10" name="aircraft source-faithful separated illustration"/>
          <p:cNvPicPr/>
          <p:nvPr/>
        </p:nvPicPr>
        <p:blipFill>
          <a:blip ns2:embed="rId3"/>
          <a:stretch>
            <a:fillRect/>
          </a:stretch>
        </p:blipFill>
        <p:spPr>
          <a:xfrm>
            <a:off x="2886075" y="1704975"/>
            <a:ext cx="3590925" cy="1524000"/>
          </a:xfrm>
          <a:prstGeom prst="rect">
            <a:avLst/>
          </a:prstGeom>
        </p:spPr>
      </p:pic>
      <p:pic>
        <p:nvPicPr>
          <p:cNvPr id="11" name="satellite source-faithful separated illustration"/>
          <p:cNvPicPr/>
          <p:nvPr/>
        </p:nvPicPr>
        <p:blipFill>
          <a:blip ns2:embed="rId4"/>
          <a:stretch>
            <a:fillRect/>
          </a:stretch>
        </p:blipFill>
        <p:spPr>
          <a:xfrm>
            <a:off x="6715125" y="428625"/>
            <a:ext cx="4657725" cy="2114550"/>
          </a:xfrm>
          <a:prstGeom prst="rect">
            <a:avLst/>
          </a:prstGeom>
        </p:spPr>
      </p:pic>
      <p:pic>
        <p:nvPicPr>
          <p:cNvPr id="12" name="ecological-transect source-faithful separated illustration"/>
          <p:cNvPicPr/>
          <p:nvPr/>
        </p:nvPicPr>
        <p:blipFill>
          <a:blip ns2:embed="rId5"/>
          <a:stretch>
            <a:fillRect/>
          </a:stretch>
        </p:blipFill>
        <p:spPr>
          <a:xfrm>
            <a:off x="257175" y="5067300"/>
            <a:ext cx="11468100" cy="380047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09600" y="2752725"/>
            <a:ext cx="857250" cy="4762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2E3742"/>
                </a:solidFill>
                <a:latin typeface="Arial"/>
                <a:ea typeface="Arial"/>
                <a:cs typeface="Arial"/>
              </a:rPr>
              <a:t>Field</a:t>
            </a:r>
            <a:endParaRPr lang="zh-CN" sz="2550"/>
          </a:p>
        </p:txBody>
      </p:sp>
      <p:sp>
        <p:nvSpPr>
          <p:cNvPr id="14" name="TextBox 14"/>
          <p:cNvSpPr txBox="1"/>
          <p:nvPr/>
        </p:nvSpPr>
        <p:spPr>
          <a:xfrm>
            <a:off x="3857625" y="1428750"/>
            <a:ext cx="1438275" cy="523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2E3742"/>
                </a:solidFill>
                <a:latin typeface="Arial"/>
                <a:ea typeface="Arial"/>
                <a:cs typeface="Arial"/>
              </a:rPr>
              <a:t>Airborne</a:t>
            </a:r>
            <a:endParaRPr lang="zh-CN" sz="2550"/>
          </a:p>
        </p:txBody>
      </p:sp>
      <p:sp>
        <p:nvSpPr>
          <p:cNvPr id="15" name="TextBox 15"/>
          <p:cNvSpPr txBox="1"/>
          <p:nvPr/>
        </p:nvSpPr>
        <p:spPr>
          <a:xfrm>
            <a:off x="9582150" y="495300"/>
            <a:ext cx="146685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2E3742"/>
                </a:solidFill>
                <a:latin typeface="Arial"/>
                <a:ea typeface="Arial"/>
                <a:cs typeface="Arial"/>
              </a:rPr>
              <a:t>Satellite</a:t>
            </a:r>
            <a:endParaRPr lang="zh-CN" sz="2550"/>
          </a:p>
        </p:txBody>
      </p:sp>
      <p:sp>
        <p:nvSpPr>
          <p:cNvPr id="16" name="TextBox 16"/>
          <p:cNvSpPr txBox="1"/>
          <p:nvPr/>
        </p:nvSpPr>
        <p:spPr>
          <a:xfrm>
            <a:off x="1190625" y="8820150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2E3742"/>
                </a:solidFill>
                <a:latin typeface="Arial"/>
                <a:ea typeface="Arial"/>
                <a:cs typeface="Arial"/>
              </a:rPr>
              <a:t>Spectra</a:t>
            </a:r>
            <a:endParaRPr lang="zh-CN" sz="2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ctra-cell-r1-c1"/>
          <p:cNvSpPr/>
          <p:nvPr/>
        </p:nvSpPr>
        <p:spPr>
          <a:xfrm>
            <a:off x="504825" y="2238375"/>
            <a:ext cx="638175" cy="647700"/>
          </a:xfrm>
          <a:prstGeom prst="rect">
            <a:avLst/>
          </a:prstGeom>
          <a:solidFill>
            <a:srgbClr val="557F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pectra-cell-r1-c2"/>
          <p:cNvSpPr/>
          <p:nvPr/>
        </p:nvSpPr>
        <p:spPr>
          <a:xfrm>
            <a:off x="1171575" y="2238375"/>
            <a:ext cx="638175" cy="647700"/>
          </a:xfrm>
          <a:prstGeom prst="rect">
            <a:avLst/>
          </a:prstGeom>
          <a:solidFill>
            <a:srgbClr val="7E93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pectra-cell-r1-c3"/>
          <p:cNvSpPr/>
          <p:nvPr/>
        </p:nvSpPr>
        <p:spPr>
          <a:xfrm>
            <a:off x="1838325" y="2238375"/>
            <a:ext cx="647700" cy="647700"/>
          </a:xfrm>
          <a:prstGeom prst="rect">
            <a:avLst/>
          </a:prstGeom>
          <a:solidFill>
            <a:srgbClr val="B49F7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pectra-cell-r1-c4"/>
          <p:cNvSpPr/>
          <p:nvPr/>
        </p:nvSpPr>
        <p:spPr>
          <a:xfrm>
            <a:off x="2514600" y="2238375"/>
            <a:ext cx="638175" cy="647700"/>
          </a:xfrm>
          <a:prstGeom prst="rect">
            <a:avLst/>
          </a:prstGeom>
          <a:solidFill>
            <a:srgbClr val="547EA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pectra-cell-r2-c1"/>
          <p:cNvSpPr/>
          <p:nvPr/>
        </p:nvSpPr>
        <p:spPr>
          <a:xfrm>
            <a:off x="514350" y="2924175"/>
            <a:ext cx="619125" cy="638175"/>
          </a:xfrm>
          <a:prstGeom prst="rect">
            <a:avLst/>
          </a:prstGeom>
          <a:solidFill>
            <a:srgbClr val="81967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spectra-cell-r2-c2"/>
          <p:cNvSpPr/>
          <p:nvPr/>
        </p:nvSpPr>
        <p:spPr>
          <a:xfrm>
            <a:off x="1171575" y="2914650"/>
            <a:ext cx="638175" cy="647700"/>
          </a:xfrm>
          <a:prstGeom prst="rect">
            <a:avLst/>
          </a:prstGeom>
          <a:solidFill>
            <a:srgbClr val="B49E7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spectra-cell-r2-c3"/>
          <p:cNvSpPr/>
          <p:nvPr/>
        </p:nvSpPr>
        <p:spPr>
          <a:xfrm>
            <a:off x="1838325" y="2914650"/>
            <a:ext cx="647700" cy="647700"/>
          </a:xfrm>
          <a:prstGeom prst="rect">
            <a:avLst/>
          </a:prstGeom>
          <a:solidFill>
            <a:srgbClr val="547EA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spectra-cell-r2-c4"/>
          <p:cNvSpPr/>
          <p:nvPr/>
        </p:nvSpPr>
        <p:spPr>
          <a:xfrm>
            <a:off x="2524125" y="2924175"/>
            <a:ext cx="619125" cy="638175"/>
          </a:xfrm>
          <a:prstGeom prst="rect">
            <a:avLst/>
          </a:prstGeom>
          <a:solidFill>
            <a:srgbClr val="80957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spectra-cell-r3-c1"/>
          <p:cNvSpPr/>
          <p:nvPr/>
        </p:nvSpPr>
        <p:spPr>
          <a:xfrm>
            <a:off x="504825" y="3590925"/>
            <a:ext cx="638175" cy="647700"/>
          </a:xfrm>
          <a:prstGeom prst="rect">
            <a:avLst/>
          </a:prstGeom>
          <a:solidFill>
            <a:srgbClr val="B59F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pectra-cell-r3-c2"/>
          <p:cNvSpPr/>
          <p:nvPr/>
        </p:nvSpPr>
        <p:spPr>
          <a:xfrm>
            <a:off x="1171575" y="3590925"/>
            <a:ext cx="638175" cy="647700"/>
          </a:xfrm>
          <a:prstGeom prst="rect">
            <a:avLst/>
          </a:prstGeom>
          <a:solidFill>
            <a:srgbClr val="537EA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pectra-cell-r3-c3"/>
          <p:cNvSpPr/>
          <p:nvPr/>
        </p:nvSpPr>
        <p:spPr>
          <a:xfrm>
            <a:off x="1847850" y="3600450"/>
            <a:ext cx="628650" cy="638175"/>
          </a:xfrm>
          <a:prstGeom prst="rect">
            <a:avLst/>
          </a:prstGeom>
          <a:solidFill>
            <a:srgbClr val="8498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spectra-cell-r3-c4"/>
          <p:cNvSpPr/>
          <p:nvPr/>
        </p:nvSpPr>
        <p:spPr>
          <a:xfrm>
            <a:off x="2514600" y="3590925"/>
            <a:ext cx="638175" cy="647700"/>
          </a:xfrm>
          <a:prstGeom prst="rect">
            <a:avLst/>
          </a:prstGeom>
          <a:solidFill>
            <a:srgbClr val="B59E7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spectra-cell-r4-c1"/>
          <p:cNvSpPr/>
          <p:nvPr/>
        </p:nvSpPr>
        <p:spPr>
          <a:xfrm>
            <a:off x="504825" y="4267200"/>
            <a:ext cx="638175" cy="638175"/>
          </a:xfrm>
          <a:prstGeom prst="rect">
            <a:avLst/>
          </a:prstGeom>
          <a:solidFill>
            <a:srgbClr val="547E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pectra-cell-r4-c2"/>
          <p:cNvSpPr/>
          <p:nvPr/>
        </p:nvSpPr>
        <p:spPr>
          <a:xfrm>
            <a:off x="1171575" y="4276725"/>
            <a:ext cx="638175" cy="628650"/>
          </a:xfrm>
          <a:prstGeom prst="rect">
            <a:avLst/>
          </a:prstGeom>
          <a:solidFill>
            <a:srgbClr val="8599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spectra-cell-r4-c3"/>
          <p:cNvSpPr/>
          <p:nvPr/>
        </p:nvSpPr>
        <p:spPr>
          <a:xfrm>
            <a:off x="1838325" y="4267200"/>
            <a:ext cx="647700" cy="638175"/>
          </a:xfrm>
          <a:prstGeom prst="rect">
            <a:avLst/>
          </a:prstGeom>
          <a:solidFill>
            <a:srgbClr val="B59F7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spectra-cell-r4-c4"/>
          <p:cNvSpPr/>
          <p:nvPr/>
        </p:nvSpPr>
        <p:spPr>
          <a:xfrm>
            <a:off x="2514600" y="4276725"/>
            <a:ext cx="628650" cy="628650"/>
          </a:xfrm>
          <a:prstGeom prst="rect">
            <a:avLst/>
          </a:prstGeom>
          <a:solidFill>
            <a:srgbClr val="889B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spatial-cell-r1-c1"/>
          <p:cNvSpPr/>
          <p:nvPr/>
        </p:nvSpPr>
        <p:spPr>
          <a:xfrm>
            <a:off x="371475" y="7448550"/>
            <a:ext cx="352425" cy="342900"/>
          </a:xfrm>
          <a:prstGeom prst="rect">
            <a:avLst/>
          </a:prstGeom>
          <a:solidFill>
            <a:srgbClr val="547EA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patial-cell-r1-c2"/>
          <p:cNvSpPr/>
          <p:nvPr/>
        </p:nvSpPr>
        <p:spPr>
          <a:xfrm>
            <a:off x="742950" y="7448550"/>
            <a:ext cx="342900" cy="342900"/>
          </a:xfrm>
          <a:prstGeom prst="rect">
            <a:avLst/>
          </a:prstGeom>
          <a:solidFill>
            <a:srgbClr val="B699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spatial-cell-r1-c3"/>
          <p:cNvSpPr/>
          <p:nvPr/>
        </p:nvSpPr>
        <p:spPr>
          <a:xfrm>
            <a:off x="1114425" y="7458075"/>
            <a:ext cx="333375" cy="323850"/>
          </a:xfrm>
          <a:prstGeom prst="rect">
            <a:avLst/>
          </a:prstGeom>
          <a:solidFill>
            <a:srgbClr val="8A977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patial-cell-r1-c4"/>
          <p:cNvSpPr/>
          <p:nvPr/>
        </p:nvSpPr>
        <p:spPr>
          <a:xfrm>
            <a:off x="1485900" y="7448550"/>
            <a:ext cx="342900" cy="342900"/>
          </a:xfrm>
          <a:prstGeom prst="rect">
            <a:avLst/>
          </a:prstGeom>
          <a:solidFill>
            <a:srgbClr val="527CA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patial-cell-r1-c5"/>
          <p:cNvSpPr/>
          <p:nvPr/>
        </p:nvSpPr>
        <p:spPr>
          <a:xfrm>
            <a:off x="1857375" y="7448550"/>
            <a:ext cx="342900" cy="333375"/>
          </a:xfrm>
          <a:prstGeom prst="rect">
            <a:avLst/>
          </a:prstGeom>
          <a:solidFill>
            <a:srgbClr val="AD9A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patial-cell-r1-c6"/>
          <p:cNvSpPr/>
          <p:nvPr/>
        </p:nvSpPr>
        <p:spPr>
          <a:xfrm>
            <a:off x="2219325" y="7448550"/>
            <a:ext cx="342900" cy="342900"/>
          </a:xfrm>
          <a:prstGeom prst="rect">
            <a:avLst/>
          </a:prstGeom>
          <a:solidFill>
            <a:srgbClr val="53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spatial-cell-r1-c7"/>
          <p:cNvSpPr/>
          <p:nvPr/>
        </p:nvSpPr>
        <p:spPr>
          <a:xfrm>
            <a:off x="2600325" y="7458075"/>
            <a:ext cx="333375" cy="323850"/>
          </a:xfrm>
          <a:prstGeom prst="rect">
            <a:avLst/>
          </a:prstGeom>
          <a:solidFill>
            <a:srgbClr val="899B7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spatial-cell-r1-c8"/>
          <p:cNvSpPr/>
          <p:nvPr/>
        </p:nvSpPr>
        <p:spPr>
          <a:xfrm>
            <a:off x="2962275" y="7448550"/>
            <a:ext cx="342900" cy="342900"/>
          </a:xfrm>
          <a:prstGeom prst="rect">
            <a:avLst/>
          </a:prstGeom>
          <a:solidFill>
            <a:srgbClr val="B69975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spatial-cell-r2-c1"/>
          <p:cNvSpPr/>
          <p:nvPr/>
        </p:nvSpPr>
        <p:spPr>
          <a:xfrm>
            <a:off x="371475" y="7810500"/>
            <a:ext cx="352425" cy="342900"/>
          </a:xfrm>
          <a:prstGeom prst="rect">
            <a:avLst/>
          </a:prstGeom>
          <a:solidFill>
            <a:srgbClr val="B69C76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patial-cell-r2-c2"/>
          <p:cNvSpPr/>
          <p:nvPr/>
        </p:nvSpPr>
        <p:spPr>
          <a:xfrm>
            <a:off x="742950" y="7820025"/>
            <a:ext cx="342900" cy="323850"/>
          </a:xfrm>
          <a:prstGeom prst="rect">
            <a:avLst/>
          </a:prstGeom>
          <a:solidFill>
            <a:srgbClr val="889A7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spatial-cell-r2-c3"/>
          <p:cNvSpPr/>
          <p:nvPr/>
        </p:nvSpPr>
        <p:spPr>
          <a:xfrm>
            <a:off x="1114425" y="7810500"/>
            <a:ext cx="342900" cy="342900"/>
          </a:xfrm>
          <a:prstGeom prst="rect">
            <a:avLst/>
          </a:prstGeom>
          <a:solidFill>
            <a:srgbClr val="527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spatial-cell-r2-c4"/>
          <p:cNvSpPr/>
          <p:nvPr/>
        </p:nvSpPr>
        <p:spPr>
          <a:xfrm>
            <a:off x="1485900" y="7820025"/>
            <a:ext cx="333375" cy="323850"/>
          </a:xfrm>
          <a:prstGeom prst="rect">
            <a:avLst/>
          </a:prstGeom>
          <a:solidFill>
            <a:srgbClr val="7F94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spatial-cell-r2-c5"/>
          <p:cNvSpPr/>
          <p:nvPr/>
        </p:nvSpPr>
        <p:spPr>
          <a:xfrm>
            <a:off x="1847850" y="7810500"/>
            <a:ext cx="352425" cy="342900"/>
          </a:xfrm>
          <a:prstGeom prst="rect">
            <a:avLst/>
          </a:prstGeom>
          <a:solidFill>
            <a:srgbClr val="53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patial-cell-r2-c6"/>
          <p:cNvSpPr/>
          <p:nvPr/>
        </p:nvSpPr>
        <p:spPr>
          <a:xfrm>
            <a:off x="2219325" y="7810500"/>
            <a:ext cx="352425" cy="342900"/>
          </a:xfrm>
          <a:prstGeom prst="rect">
            <a:avLst/>
          </a:prstGeom>
          <a:solidFill>
            <a:srgbClr val="AF9A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spatial-cell-r2-c7"/>
          <p:cNvSpPr/>
          <p:nvPr/>
        </p:nvSpPr>
        <p:spPr>
          <a:xfrm>
            <a:off x="2590800" y="7810500"/>
            <a:ext cx="342900" cy="342900"/>
          </a:xfrm>
          <a:prstGeom prst="rect">
            <a:avLst/>
          </a:prstGeom>
          <a:solidFill>
            <a:srgbClr val="AF987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spatial-cell-r2-c8"/>
          <p:cNvSpPr/>
          <p:nvPr/>
        </p:nvSpPr>
        <p:spPr>
          <a:xfrm>
            <a:off x="2962275" y="7810500"/>
            <a:ext cx="342900" cy="342900"/>
          </a:xfrm>
          <a:prstGeom prst="rect">
            <a:avLst/>
          </a:prstGeom>
          <a:solidFill>
            <a:srgbClr val="527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spatial-cell-r3-c1"/>
          <p:cNvSpPr/>
          <p:nvPr/>
        </p:nvSpPr>
        <p:spPr>
          <a:xfrm>
            <a:off x="371475" y="8172450"/>
            <a:ext cx="352425" cy="342900"/>
          </a:xfrm>
          <a:prstGeom prst="rect">
            <a:avLst/>
          </a:prstGeom>
          <a:solidFill>
            <a:srgbClr val="537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patial-cell-r3-c2"/>
          <p:cNvSpPr/>
          <p:nvPr/>
        </p:nvSpPr>
        <p:spPr>
          <a:xfrm>
            <a:off x="742950" y="8181975"/>
            <a:ext cx="342900" cy="333375"/>
          </a:xfrm>
          <a:prstGeom prst="rect">
            <a:avLst/>
          </a:prstGeom>
          <a:solidFill>
            <a:srgbClr val="B5977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spatial-cell-r3-c3"/>
          <p:cNvSpPr/>
          <p:nvPr/>
        </p:nvSpPr>
        <p:spPr>
          <a:xfrm>
            <a:off x="1114425" y="8181975"/>
            <a:ext cx="333375" cy="323850"/>
          </a:xfrm>
          <a:prstGeom prst="rect">
            <a:avLst/>
          </a:prstGeom>
          <a:solidFill>
            <a:srgbClr val="7A9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spatial-cell-r3-c4"/>
          <p:cNvSpPr/>
          <p:nvPr/>
        </p:nvSpPr>
        <p:spPr>
          <a:xfrm>
            <a:off x="1485900" y="8172450"/>
            <a:ext cx="342900" cy="342900"/>
          </a:xfrm>
          <a:prstGeom prst="rect">
            <a:avLst/>
          </a:prstGeom>
          <a:solidFill>
            <a:srgbClr val="B79A75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spatial-cell-r3-c5"/>
          <p:cNvSpPr/>
          <p:nvPr/>
        </p:nvSpPr>
        <p:spPr>
          <a:xfrm>
            <a:off x="1857375" y="8181975"/>
            <a:ext cx="333375" cy="323850"/>
          </a:xfrm>
          <a:prstGeom prst="rect">
            <a:avLst/>
          </a:prstGeom>
          <a:solidFill>
            <a:srgbClr val="7B9172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spatial-cell-r3-c6"/>
          <p:cNvSpPr/>
          <p:nvPr/>
        </p:nvSpPr>
        <p:spPr>
          <a:xfrm>
            <a:off x="2219325" y="8172450"/>
            <a:ext cx="342900" cy="342900"/>
          </a:xfrm>
          <a:prstGeom prst="rect">
            <a:avLst/>
          </a:prstGeom>
          <a:solidFill>
            <a:srgbClr val="537DA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spatial-cell-r3-c7"/>
          <p:cNvSpPr/>
          <p:nvPr/>
        </p:nvSpPr>
        <p:spPr>
          <a:xfrm>
            <a:off x="2590800" y="8172450"/>
            <a:ext cx="342900" cy="342900"/>
          </a:xfrm>
          <a:prstGeom prst="rect">
            <a:avLst/>
          </a:prstGeom>
          <a:solidFill>
            <a:srgbClr val="527B9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spatial-cell-r3-c8"/>
          <p:cNvSpPr/>
          <p:nvPr/>
        </p:nvSpPr>
        <p:spPr>
          <a:xfrm>
            <a:off x="2962275" y="8181975"/>
            <a:ext cx="342900" cy="323850"/>
          </a:xfrm>
          <a:prstGeom prst="rect">
            <a:avLst/>
          </a:prstGeom>
          <a:solidFill>
            <a:srgbClr val="7990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spatial-cell-r4-c1"/>
          <p:cNvSpPr/>
          <p:nvPr/>
        </p:nvSpPr>
        <p:spPr>
          <a:xfrm>
            <a:off x="381000" y="8543925"/>
            <a:ext cx="333375" cy="333375"/>
          </a:xfrm>
          <a:prstGeom prst="rect">
            <a:avLst/>
          </a:prstGeom>
          <a:solidFill>
            <a:srgbClr val="85987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spatial-cell-r4-c2"/>
          <p:cNvSpPr/>
          <p:nvPr/>
        </p:nvSpPr>
        <p:spPr>
          <a:xfrm>
            <a:off x="742950" y="8543925"/>
            <a:ext cx="342900" cy="333375"/>
          </a:xfrm>
          <a:prstGeom prst="rect">
            <a:avLst/>
          </a:prstGeom>
          <a:solidFill>
            <a:srgbClr val="527CA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spatial-cell-r4-c3"/>
          <p:cNvSpPr/>
          <p:nvPr/>
        </p:nvSpPr>
        <p:spPr>
          <a:xfrm>
            <a:off x="1114425" y="8543925"/>
            <a:ext cx="342900" cy="333375"/>
          </a:xfrm>
          <a:prstGeom prst="rect">
            <a:avLst/>
          </a:prstGeom>
          <a:solidFill>
            <a:srgbClr val="B49772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spatial-cell-r4-c4"/>
          <p:cNvSpPr/>
          <p:nvPr/>
        </p:nvSpPr>
        <p:spPr>
          <a:xfrm>
            <a:off x="1485900" y="8543925"/>
            <a:ext cx="342900" cy="333375"/>
          </a:xfrm>
          <a:prstGeom prst="rect">
            <a:avLst/>
          </a:prstGeom>
          <a:solidFill>
            <a:srgbClr val="527C9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spatial-cell-r4-c5"/>
          <p:cNvSpPr/>
          <p:nvPr/>
        </p:nvSpPr>
        <p:spPr>
          <a:xfrm>
            <a:off x="1857375" y="8543925"/>
            <a:ext cx="333375" cy="333375"/>
          </a:xfrm>
          <a:prstGeom prst="rect">
            <a:avLst/>
          </a:prstGeom>
          <a:solidFill>
            <a:srgbClr val="A69875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spatial-cell-r4-c6"/>
          <p:cNvSpPr/>
          <p:nvPr/>
        </p:nvSpPr>
        <p:spPr>
          <a:xfrm>
            <a:off x="2219325" y="8543925"/>
            <a:ext cx="342900" cy="333375"/>
          </a:xfrm>
          <a:prstGeom prst="rect">
            <a:avLst/>
          </a:prstGeom>
          <a:solidFill>
            <a:srgbClr val="AB997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spatial-cell-r4-c7"/>
          <p:cNvSpPr/>
          <p:nvPr/>
        </p:nvSpPr>
        <p:spPr>
          <a:xfrm>
            <a:off x="2590800" y="8543925"/>
            <a:ext cx="342900" cy="333375"/>
          </a:xfrm>
          <a:prstGeom prst="rect">
            <a:avLst/>
          </a:prstGeom>
          <a:solidFill>
            <a:srgbClr val="52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spatial-cell-r4-c8"/>
          <p:cNvSpPr/>
          <p:nvPr/>
        </p:nvSpPr>
        <p:spPr>
          <a:xfrm>
            <a:off x="2962275" y="8543925"/>
            <a:ext cx="342900" cy="333375"/>
          </a:xfrm>
          <a:prstGeom prst="rect">
            <a:avLst/>
          </a:prstGeom>
          <a:solidFill>
            <a:srgbClr val="B3997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spatial-cell-r5-c1"/>
          <p:cNvSpPr/>
          <p:nvPr/>
        </p:nvSpPr>
        <p:spPr>
          <a:xfrm>
            <a:off x="371475" y="8905875"/>
            <a:ext cx="342900" cy="333375"/>
          </a:xfrm>
          <a:prstGeom prst="rect">
            <a:avLst/>
          </a:prstGeom>
          <a:solidFill>
            <a:srgbClr val="B89B7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spatial-cell-r5-c2"/>
          <p:cNvSpPr/>
          <p:nvPr/>
        </p:nvSpPr>
        <p:spPr>
          <a:xfrm>
            <a:off x="742950" y="8905875"/>
            <a:ext cx="342900" cy="342900"/>
          </a:xfrm>
          <a:prstGeom prst="rect">
            <a:avLst/>
          </a:prstGeom>
          <a:solidFill>
            <a:srgbClr val="537CA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patial-cell-r5-c3"/>
          <p:cNvSpPr/>
          <p:nvPr/>
        </p:nvSpPr>
        <p:spPr>
          <a:xfrm>
            <a:off x="1114425" y="8905875"/>
            <a:ext cx="333375" cy="333375"/>
          </a:xfrm>
          <a:prstGeom prst="rect">
            <a:avLst/>
          </a:prstGeom>
          <a:solidFill>
            <a:srgbClr val="859879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spatial-cell-r5-c4"/>
          <p:cNvSpPr/>
          <p:nvPr/>
        </p:nvSpPr>
        <p:spPr>
          <a:xfrm>
            <a:off x="1485900" y="8905875"/>
            <a:ext cx="342900" cy="333375"/>
          </a:xfrm>
          <a:prstGeom prst="rect">
            <a:avLst/>
          </a:prstGeom>
          <a:solidFill>
            <a:srgbClr val="AE997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spatial-cell-r5-c5"/>
          <p:cNvSpPr/>
          <p:nvPr/>
        </p:nvSpPr>
        <p:spPr>
          <a:xfrm>
            <a:off x="1857375" y="8905875"/>
            <a:ext cx="333375" cy="333375"/>
          </a:xfrm>
          <a:prstGeom prst="rect">
            <a:avLst/>
          </a:prstGeom>
          <a:solidFill>
            <a:srgbClr val="7E9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spatial-cell-r5-c6"/>
          <p:cNvSpPr/>
          <p:nvPr/>
        </p:nvSpPr>
        <p:spPr>
          <a:xfrm>
            <a:off x="2219325" y="8905875"/>
            <a:ext cx="342900" cy="342900"/>
          </a:xfrm>
          <a:prstGeom prst="rect">
            <a:avLst/>
          </a:prstGeom>
          <a:solidFill>
            <a:srgbClr val="547DA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spatial-cell-r5-c7"/>
          <p:cNvSpPr/>
          <p:nvPr/>
        </p:nvSpPr>
        <p:spPr>
          <a:xfrm>
            <a:off x="2590800" y="8905875"/>
            <a:ext cx="342900" cy="342900"/>
          </a:xfrm>
          <a:prstGeom prst="rect">
            <a:avLst/>
          </a:prstGeom>
          <a:solidFill>
            <a:srgbClr val="B89A76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spatial-cell-r5-c8"/>
          <p:cNvSpPr/>
          <p:nvPr/>
        </p:nvSpPr>
        <p:spPr>
          <a:xfrm>
            <a:off x="2962275" y="8905875"/>
            <a:ext cx="342900" cy="342900"/>
          </a:xfrm>
          <a:prstGeom prst="rect">
            <a:avLst/>
          </a:prstGeom>
          <a:solidFill>
            <a:srgbClr val="527BA0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spatial-cell-r6-c1"/>
          <p:cNvSpPr/>
          <p:nvPr/>
        </p:nvSpPr>
        <p:spPr>
          <a:xfrm>
            <a:off x="371475" y="9267825"/>
            <a:ext cx="342900" cy="342900"/>
          </a:xfrm>
          <a:prstGeom prst="rect">
            <a:avLst/>
          </a:prstGeom>
          <a:solidFill>
            <a:srgbClr val="54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spatial-cell-r6-c2"/>
          <p:cNvSpPr/>
          <p:nvPr/>
        </p:nvSpPr>
        <p:spPr>
          <a:xfrm>
            <a:off x="742950" y="9277350"/>
            <a:ext cx="342900" cy="323850"/>
          </a:xfrm>
          <a:prstGeom prst="rect">
            <a:avLst/>
          </a:prstGeom>
          <a:solidFill>
            <a:srgbClr val="87997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spatial-cell-r6-c3"/>
          <p:cNvSpPr/>
          <p:nvPr/>
        </p:nvSpPr>
        <p:spPr>
          <a:xfrm>
            <a:off x="1114425" y="9267825"/>
            <a:ext cx="342900" cy="342900"/>
          </a:xfrm>
          <a:prstGeom prst="rect">
            <a:avLst/>
          </a:prstGeom>
          <a:solidFill>
            <a:srgbClr val="B79C76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spatial-cell-r6-c4"/>
          <p:cNvSpPr/>
          <p:nvPr/>
        </p:nvSpPr>
        <p:spPr>
          <a:xfrm>
            <a:off x="1485900" y="9277350"/>
            <a:ext cx="333375" cy="323850"/>
          </a:xfrm>
          <a:prstGeom prst="rect">
            <a:avLst/>
          </a:prstGeom>
          <a:solidFill>
            <a:srgbClr val="7D93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spatial-cell-r6-c5"/>
          <p:cNvSpPr/>
          <p:nvPr/>
        </p:nvSpPr>
        <p:spPr>
          <a:xfrm>
            <a:off x="1847850" y="9267825"/>
            <a:ext cx="352425" cy="342900"/>
          </a:xfrm>
          <a:prstGeom prst="rect">
            <a:avLst/>
          </a:prstGeom>
          <a:solidFill>
            <a:srgbClr val="53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spatial-cell-r6-c6"/>
          <p:cNvSpPr/>
          <p:nvPr/>
        </p:nvSpPr>
        <p:spPr>
          <a:xfrm>
            <a:off x="2219325" y="9267825"/>
            <a:ext cx="342900" cy="342900"/>
          </a:xfrm>
          <a:prstGeom prst="rect">
            <a:avLst/>
          </a:prstGeom>
          <a:solidFill>
            <a:srgbClr val="B39A7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spatial-cell-r6-c7"/>
          <p:cNvSpPr/>
          <p:nvPr/>
        </p:nvSpPr>
        <p:spPr>
          <a:xfrm>
            <a:off x="2600325" y="9277350"/>
            <a:ext cx="333375" cy="323850"/>
          </a:xfrm>
          <a:prstGeom prst="rect">
            <a:avLst/>
          </a:prstGeom>
          <a:solidFill>
            <a:srgbClr val="7F9475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spatial-cell-r6-c8"/>
          <p:cNvSpPr/>
          <p:nvPr/>
        </p:nvSpPr>
        <p:spPr>
          <a:xfrm>
            <a:off x="2962275" y="9267825"/>
            <a:ext cx="342900" cy="342900"/>
          </a:xfrm>
          <a:prstGeom prst="rect">
            <a:avLst/>
          </a:prstGeom>
          <a:solidFill>
            <a:srgbClr val="B198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spatial-cell-r7-c1"/>
          <p:cNvSpPr/>
          <p:nvPr/>
        </p:nvSpPr>
        <p:spPr>
          <a:xfrm>
            <a:off x="381000" y="9639300"/>
            <a:ext cx="333375" cy="333375"/>
          </a:xfrm>
          <a:prstGeom prst="rect">
            <a:avLst/>
          </a:prstGeom>
          <a:solidFill>
            <a:srgbClr val="7B927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spatial-cell-r7-c2"/>
          <p:cNvSpPr/>
          <p:nvPr/>
        </p:nvSpPr>
        <p:spPr>
          <a:xfrm>
            <a:off x="742950" y="9639300"/>
            <a:ext cx="342900" cy="333375"/>
          </a:xfrm>
          <a:prstGeom prst="rect">
            <a:avLst/>
          </a:prstGeom>
          <a:solidFill>
            <a:srgbClr val="BB9B76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spatial-cell-r7-c3"/>
          <p:cNvSpPr/>
          <p:nvPr/>
        </p:nvSpPr>
        <p:spPr>
          <a:xfrm>
            <a:off x="1114425" y="9629775"/>
            <a:ext cx="342900" cy="342900"/>
          </a:xfrm>
          <a:prstGeom prst="rect">
            <a:avLst/>
          </a:prstGeom>
          <a:solidFill>
            <a:srgbClr val="537EA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spatial-cell-r7-c4"/>
          <p:cNvSpPr/>
          <p:nvPr/>
        </p:nvSpPr>
        <p:spPr>
          <a:xfrm>
            <a:off x="1485900" y="9629775"/>
            <a:ext cx="342900" cy="342900"/>
          </a:xfrm>
          <a:prstGeom prst="rect">
            <a:avLst/>
          </a:prstGeom>
          <a:solidFill>
            <a:srgbClr val="52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spatial-cell-r7-c5"/>
          <p:cNvSpPr/>
          <p:nvPr/>
        </p:nvSpPr>
        <p:spPr>
          <a:xfrm>
            <a:off x="1857375" y="9639300"/>
            <a:ext cx="333375" cy="333375"/>
          </a:xfrm>
          <a:prstGeom prst="rect">
            <a:avLst/>
          </a:prstGeom>
          <a:solidFill>
            <a:srgbClr val="7D927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spatial-cell-r7-c6"/>
          <p:cNvSpPr/>
          <p:nvPr/>
        </p:nvSpPr>
        <p:spPr>
          <a:xfrm>
            <a:off x="2219325" y="9639300"/>
            <a:ext cx="342900" cy="333375"/>
          </a:xfrm>
          <a:prstGeom prst="rect">
            <a:avLst/>
          </a:prstGeom>
          <a:solidFill>
            <a:srgbClr val="52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spatial-cell-r7-c7"/>
          <p:cNvSpPr/>
          <p:nvPr/>
        </p:nvSpPr>
        <p:spPr>
          <a:xfrm>
            <a:off x="2590800" y="9639300"/>
            <a:ext cx="342900" cy="333375"/>
          </a:xfrm>
          <a:prstGeom prst="rect">
            <a:avLst/>
          </a:prstGeom>
          <a:solidFill>
            <a:srgbClr val="B0997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spatial-cell-r7-c8"/>
          <p:cNvSpPr/>
          <p:nvPr/>
        </p:nvSpPr>
        <p:spPr>
          <a:xfrm>
            <a:off x="2962275" y="9639300"/>
            <a:ext cx="342900" cy="333375"/>
          </a:xfrm>
          <a:prstGeom prst="rect">
            <a:avLst/>
          </a:prstGeom>
          <a:solidFill>
            <a:srgbClr val="7A9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spatial-cell-r8-c1"/>
          <p:cNvSpPr/>
          <p:nvPr/>
        </p:nvSpPr>
        <p:spPr>
          <a:xfrm>
            <a:off x="371475" y="10001250"/>
            <a:ext cx="342900" cy="333375"/>
          </a:xfrm>
          <a:prstGeom prst="rect">
            <a:avLst/>
          </a:prstGeom>
          <a:solidFill>
            <a:srgbClr val="BC9F79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spatial-cell-r8-c2"/>
          <p:cNvSpPr/>
          <p:nvPr/>
        </p:nvSpPr>
        <p:spPr>
          <a:xfrm>
            <a:off x="742950" y="10001250"/>
            <a:ext cx="342900" cy="333375"/>
          </a:xfrm>
          <a:prstGeom prst="rect">
            <a:avLst/>
          </a:prstGeom>
          <a:solidFill>
            <a:srgbClr val="537DA3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spatial-cell-r8-c3"/>
          <p:cNvSpPr/>
          <p:nvPr/>
        </p:nvSpPr>
        <p:spPr>
          <a:xfrm>
            <a:off x="1123950" y="10001250"/>
            <a:ext cx="323850" cy="333375"/>
          </a:xfrm>
          <a:prstGeom prst="rect">
            <a:avLst/>
          </a:prstGeom>
          <a:solidFill>
            <a:srgbClr val="7E937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spatial-cell-r8-c4"/>
          <p:cNvSpPr/>
          <p:nvPr/>
        </p:nvSpPr>
        <p:spPr>
          <a:xfrm>
            <a:off x="1485900" y="10001250"/>
            <a:ext cx="342900" cy="333375"/>
          </a:xfrm>
          <a:prstGeom prst="rect">
            <a:avLst/>
          </a:prstGeom>
          <a:solidFill>
            <a:srgbClr val="BD9E79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spatial-cell-r8-c5"/>
          <p:cNvSpPr/>
          <p:nvPr/>
        </p:nvSpPr>
        <p:spPr>
          <a:xfrm>
            <a:off x="1847850" y="10001250"/>
            <a:ext cx="352425" cy="333375"/>
          </a:xfrm>
          <a:prstGeom prst="rect">
            <a:avLst/>
          </a:prstGeom>
          <a:solidFill>
            <a:srgbClr val="53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spatial-cell-r8-c6"/>
          <p:cNvSpPr/>
          <p:nvPr/>
        </p:nvSpPr>
        <p:spPr>
          <a:xfrm>
            <a:off x="2228850" y="10001250"/>
            <a:ext cx="333375" cy="333375"/>
          </a:xfrm>
          <a:prstGeom prst="rect">
            <a:avLst/>
          </a:prstGeom>
          <a:solidFill>
            <a:srgbClr val="7E937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spatial-cell-r8-c7"/>
          <p:cNvSpPr/>
          <p:nvPr/>
        </p:nvSpPr>
        <p:spPr>
          <a:xfrm>
            <a:off x="2600325" y="10001250"/>
            <a:ext cx="333375" cy="333375"/>
          </a:xfrm>
          <a:prstGeom prst="rect">
            <a:avLst/>
          </a:prstGeom>
          <a:solidFill>
            <a:srgbClr val="798F72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spatial-cell-r8-c8"/>
          <p:cNvSpPr/>
          <p:nvPr/>
        </p:nvSpPr>
        <p:spPr>
          <a:xfrm>
            <a:off x="2962275" y="10001250"/>
            <a:ext cx="342900" cy="333375"/>
          </a:xfrm>
          <a:prstGeom prst="rect">
            <a:avLst/>
          </a:prstGeom>
          <a:solidFill>
            <a:srgbClr val="527CA2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traits-cell-r1-c1"/>
          <p:cNvSpPr/>
          <p:nvPr/>
        </p:nvSpPr>
        <p:spPr>
          <a:xfrm>
            <a:off x="8753475" y="4448175"/>
            <a:ext cx="342900" cy="352425"/>
          </a:xfrm>
          <a:prstGeom prst="rect">
            <a:avLst/>
          </a:prstGeom>
          <a:solidFill>
            <a:srgbClr val="547EA3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raits-cell-r1-c2"/>
          <p:cNvSpPr/>
          <p:nvPr/>
        </p:nvSpPr>
        <p:spPr>
          <a:xfrm>
            <a:off x="9124950" y="4457700"/>
            <a:ext cx="333375" cy="333375"/>
          </a:xfrm>
          <a:prstGeom prst="rect">
            <a:avLst/>
          </a:prstGeom>
          <a:solidFill>
            <a:srgbClr val="7C9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traits-cell-r1-c3"/>
          <p:cNvSpPr/>
          <p:nvPr/>
        </p:nvSpPr>
        <p:spPr>
          <a:xfrm>
            <a:off x="9486900" y="4448175"/>
            <a:ext cx="342900" cy="352425"/>
          </a:xfrm>
          <a:prstGeom prst="rect">
            <a:avLst/>
          </a:prstGeom>
          <a:solidFill>
            <a:srgbClr val="B4957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traits-cell-r1-c4"/>
          <p:cNvSpPr/>
          <p:nvPr/>
        </p:nvSpPr>
        <p:spPr>
          <a:xfrm>
            <a:off x="9848850" y="4457700"/>
            <a:ext cx="333375" cy="333375"/>
          </a:xfrm>
          <a:prstGeom prst="rect">
            <a:avLst/>
          </a:prstGeom>
          <a:solidFill>
            <a:srgbClr val="7C9274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traits-cell-r1-c5"/>
          <p:cNvSpPr/>
          <p:nvPr/>
        </p:nvSpPr>
        <p:spPr>
          <a:xfrm>
            <a:off x="10210800" y="4448175"/>
            <a:ext cx="352425" cy="352425"/>
          </a:xfrm>
          <a:prstGeom prst="rect">
            <a:avLst/>
          </a:prstGeom>
          <a:solidFill>
            <a:srgbClr val="53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traits-cell-r1-c6"/>
          <p:cNvSpPr/>
          <p:nvPr/>
        </p:nvSpPr>
        <p:spPr>
          <a:xfrm>
            <a:off x="10582275" y="4457700"/>
            <a:ext cx="333375" cy="333375"/>
          </a:xfrm>
          <a:prstGeom prst="rect">
            <a:avLst/>
          </a:prstGeom>
          <a:solidFill>
            <a:srgbClr val="7C9274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traits-cell-r1-c7"/>
          <p:cNvSpPr/>
          <p:nvPr/>
        </p:nvSpPr>
        <p:spPr>
          <a:xfrm>
            <a:off x="10944225" y="4448175"/>
            <a:ext cx="342900" cy="352425"/>
          </a:xfrm>
          <a:prstGeom prst="rect">
            <a:avLst/>
          </a:prstGeom>
          <a:solidFill>
            <a:srgbClr val="B6987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raits-cell-r1-c8"/>
          <p:cNvSpPr/>
          <p:nvPr/>
        </p:nvSpPr>
        <p:spPr>
          <a:xfrm>
            <a:off x="11315700" y="4457700"/>
            <a:ext cx="333375" cy="333375"/>
          </a:xfrm>
          <a:prstGeom prst="rect">
            <a:avLst/>
          </a:prstGeom>
          <a:solidFill>
            <a:srgbClr val="7C9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traits-cell-r2-c1"/>
          <p:cNvSpPr/>
          <p:nvPr/>
        </p:nvSpPr>
        <p:spPr>
          <a:xfrm>
            <a:off x="8753475" y="4829175"/>
            <a:ext cx="333375" cy="342900"/>
          </a:xfrm>
          <a:prstGeom prst="rect">
            <a:avLst/>
          </a:prstGeom>
          <a:solidFill>
            <a:srgbClr val="9C997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traits-cell-r2-c2"/>
          <p:cNvSpPr/>
          <p:nvPr/>
        </p:nvSpPr>
        <p:spPr>
          <a:xfrm>
            <a:off x="9115425" y="4829175"/>
            <a:ext cx="342900" cy="342900"/>
          </a:xfrm>
          <a:prstGeom prst="rect">
            <a:avLst/>
          </a:prstGeom>
          <a:solidFill>
            <a:srgbClr val="B596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traits-cell-r2-c3"/>
          <p:cNvSpPr/>
          <p:nvPr/>
        </p:nvSpPr>
        <p:spPr>
          <a:xfrm>
            <a:off x="9486900" y="4829175"/>
            <a:ext cx="333375" cy="342900"/>
          </a:xfrm>
          <a:prstGeom prst="rect">
            <a:avLst/>
          </a:prstGeom>
          <a:solidFill>
            <a:srgbClr val="93977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traits-cell-r2-c4"/>
          <p:cNvSpPr/>
          <p:nvPr/>
        </p:nvSpPr>
        <p:spPr>
          <a:xfrm>
            <a:off x="9848850" y="4819650"/>
            <a:ext cx="342900" cy="352425"/>
          </a:xfrm>
          <a:prstGeom prst="rect">
            <a:avLst/>
          </a:prstGeom>
          <a:solidFill>
            <a:srgbClr val="53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traits-cell-r2-c5"/>
          <p:cNvSpPr/>
          <p:nvPr/>
        </p:nvSpPr>
        <p:spPr>
          <a:xfrm>
            <a:off x="10210800" y="4829175"/>
            <a:ext cx="342900" cy="342900"/>
          </a:xfrm>
          <a:prstGeom prst="rect">
            <a:avLst/>
          </a:prstGeom>
          <a:solidFill>
            <a:srgbClr val="597F97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raits-cell-r2-c6"/>
          <p:cNvSpPr/>
          <p:nvPr/>
        </p:nvSpPr>
        <p:spPr>
          <a:xfrm>
            <a:off x="10582275" y="4829175"/>
            <a:ext cx="342900" cy="342900"/>
          </a:xfrm>
          <a:prstGeom prst="rect">
            <a:avLst/>
          </a:prstGeom>
          <a:solidFill>
            <a:srgbClr val="B6967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traits-cell-r2-c7"/>
          <p:cNvSpPr/>
          <p:nvPr/>
        </p:nvSpPr>
        <p:spPr>
          <a:xfrm>
            <a:off x="10944225" y="4829175"/>
            <a:ext cx="342900" cy="342900"/>
          </a:xfrm>
          <a:prstGeom prst="rect">
            <a:avLst/>
          </a:prstGeom>
          <a:solidFill>
            <a:srgbClr val="B4967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traits-cell-r2-c8"/>
          <p:cNvSpPr/>
          <p:nvPr/>
        </p:nvSpPr>
        <p:spPr>
          <a:xfrm>
            <a:off x="11315700" y="4819650"/>
            <a:ext cx="333375" cy="352425"/>
          </a:xfrm>
          <a:prstGeom prst="rect">
            <a:avLst/>
          </a:prstGeom>
          <a:solidFill>
            <a:srgbClr val="547DA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traits-cell-r3-c1"/>
          <p:cNvSpPr/>
          <p:nvPr/>
        </p:nvSpPr>
        <p:spPr>
          <a:xfrm>
            <a:off x="8753475" y="5200650"/>
            <a:ext cx="342900" cy="352425"/>
          </a:xfrm>
          <a:prstGeom prst="rect">
            <a:avLst/>
          </a:prstGeom>
          <a:solidFill>
            <a:srgbClr val="B7977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traits-cell-r3-c2"/>
          <p:cNvSpPr/>
          <p:nvPr/>
        </p:nvSpPr>
        <p:spPr>
          <a:xfrm>
            <a:off x="9115425" y="5200650"/>
            <a:ext cx="342900" cy="352425"/>
          </a:xfrm>
          <a:prstGeom prst="rect">
            <a:avLst/>
          </a:prstGeom>
          <a:solidFill>
            <a:srgbClr val="53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traits-cell-r3-c3"/>
          <p:cNvSpPr/>
          <p:nvPr/>
        </p:nvSpPr>
        <p:spPr>
          <a:xfrm>
            <a:off x="9486900" y="5200650"/>
            <a:ext cx="342900" cy="352425"/>
          </a:xfrm>
          <a:prstGeom prst="rect">
            <a:avLst/>
          </a:prstGeom>
          <a:solidFill>
            <a:srgbClr val="547E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traits-cell-r3-c4"/>
          <p:cNvSpPr/>
          <p:nvPr/>
        </p:nvSpPr>
        <p:spPr>
          <a:xfrm>
            <a:off x="9848850" y="5200650"/>
            <a:ext cx="342900" cy="352425"/>
          </a:xfrm>
          <a:prstGeom prst="rect">
            <a:avLst/>
          </a:prstGeom>
          <a:solidFill>
            <a:srgbClr val="AD98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traits-cell-r3-c5"/>
          <p:cNvSpPr/>
          <p:nvPr/>
        </p:nvSpPr>
        <p:spPr>
          <a:xfrm>
            <a:off x="10220325" y="5210175"/>
            <a:ext cx="333375" cy="333375"/>
          </a:xfrm>
          <a:prstGeom prst="rect">
            <a:avLst/>
          </a:prstGeom>
          <a:solidFill>
            <a:srgbClr val="96967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traits-cell-r3-c6"/>
          <p:cNvSpPr/>
          <p:nvPr/>
        </p:nvSpPr>
        <p:spPr>
          <a:xfrm>
            <a:off x="10582275" y="5200650"/>
            <a:ext cx="342900" cy="352425"/>
          </a:xfrm>
          <a:prstGeom prst="rect">
            <a:avLst/>
          </a:prstGeom>
          <a:solidFill>
            <a:srgbClr val="547E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raits-cell-r3-c7"/>
          <p:cNvSpPr/>
          <p:nvPr/>
        </p:nvSpPr>
        <p:spPr>
          <a:xfrm>
            <a:off x="10953750" y="5210175"/>
            <a:ext cx="333375" cy="333375"/>
          </a:xfrm>
          <a:prstGeom prst="rect">
            <a:avLst/>
          </a:prstGeom>
          <a:solidFill>
            <a:srgbClr val="7B9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traits-cell-r3-c8"/>
          <p:cNvSpPr/>
          <p:nvPr/>
        </p:nvSpPr>
        <p:spPr>
          <a:xfrm>
            <a:off x="11315700" y="5210175"/>
            <a:ext cx="333375" cy="333375"/>
          </a:xfrm>
          <a:prstGeom prst="rect">
            <a:avLst/>
          </a:prstGeom>
          <a:solidFill>
            <a:srgbClr val="798F7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traits-cell-r4-c1"/>
          <p:cNvSpPr/>
          <p:nvPr/>
        </p:nvSpPr>
        <p:spPr>
          <a:xfrm>
            <a:off x="8753475" y="5581650"/>
            <a:ext cx="342900" cy="342900"/>
          </a:xfrm>
          <a:prstGeom prst="rect">
            <a:avLst/>
          </a:prstGeom>
          <a:solidFill>
            <a:srgbClr val="597E9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traits-cell-r4-c2"/>
          <p:cNvSpPr/>
          <p:nvPr/>
        </p:nvSpPr>
        <p:spPr>
          <a:xfrm>
            <a:off x="9124950" y="5581650"/>
            <a:ext cx="333375" cy="342900"/>
          </a:xfrm>
          <a:prstGeom prst="rect">
            <a:avLst/>
          </a:prstGeom>
          <a:solidFill>
            <a:srgbClr val="788E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traits-cell-r4-c3"/>
          <p:cNvSpPr/>
          <p:nvPr/>
        </p:nvSpPr>
        <p:spPr>
          <a:xfrm>
            <a:off x="9486900" y="5581650"/>
            <a:ext cx="342900" cy="342900"/>
          </a:xfrm>
          <a:prstGeom prst="rect">
            <a:avLst/>
          </a:prstGeom>
          <a:solidFill>
            <a:srgbClr val="A297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traits-cell-r4-c4"/>
          <p:cNvSpPr/>
          <p:nvPr/>
        </p:nvSpPr>
        <p:spPr>
          <a:xfrm>
            <a:off x="9848850" y="5572125"/>
            <a:ext cx="342900" cy="352425"/>
          </a:xfrm>
          <a:prstGeom prst="rect">
            <a:avLst/>
          </a:prstGeom>
          <a:solidFill>
            <a:srgbClr val="AF99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traits-cell-r4-c5"/>
          <p:cNvSpPr/>
          <p:nvPr/>
        </p:nvSpPr>
        <p:spPr>
          <a:xfrm>
            <a:off x="10210800" y="5572125"/>
            <a:ext cx="352425" cy="352425"/>
          </a:xfrm>
          <a:prstGeom prst="rect">
            <a:avLst/>
          </a:prstGeom>
          <a:solidFill>
            <a:srgbClr val="587E9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traits-cell-r4-c6"/>
          <p:cNvSpPr/>
          <p:nvPr/>
        </p:nvSpPr>
        <p:spPr>
          <a:xfrm>
            <a:off x="10582275" y="5581650"/>
            <a:ext cx="333375" cy="342900"/>
          </a:xfrm>
          <a:prstGeom prst="rect">
            <a:avLst/>
          </a:prstGeom>
          <a:solidFill>
            <a:srgbClr val="A296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traits-cell-r4-c7"/>
          <p:cNvSpPr/>
          <p:nvPr/>
        </p:nvSpPr>
        <p:spPr>
          <a:xfrm>
            <a:off x="10944225" y="5581650"/>
            <a:ext cx="342900" cy="342900"/>
          </a:xfrm>
          <a:prstGeom prst="rect">
            <a:avLst/>
          </a:prstGeom>
          <a:solidFill>
            <a:srgbClr val="AF98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traits-cell-r4-c8"/>
          <p:cNvSpPr/>
          <p:nvPr/>
        </p:nvSpPr>
        <p:spPr>
          <a:xfrm>
            <a:off x="11315700" y="5572125"/>
            <a:ext cx="333375" cy="352425"/>
          </a:xfrm>
          <a:prstGeom prst="rect">
            <a:avLst/>
          </a:prstGeom>
          <a:solidFill>
            <a:srgbClr val="53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traits-cell-r5-c1"/>
          <p:cNvSpPr/>
          <p:nvPr/>
        </p:nvSpPr>
        <p:spPr>
          <a:xfrm>
            <a:off x="8753475" y="5953125"/>
            <a:ext cx="342900" cy="342900"/>
          </a:xfrm>
          <a:prstGeom prst="rect">
            <a:avLst/>
          </a:prstGeom>
          <a:solidFill>
            <a:srgbClr val="537C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raits-cell-r5-c2"/>
          <p:cNvSpPr/>
          <p:nvPr/>
        </p:nvSpPr>
        <p:spPr>
          <a:xfrm>
            <a:off x="9115425" y="5953125"/>
            <a:ext cx="342900" cy="342900"/>
          </a:xfrm>
          <a:prstGeom prst="rect">
            <a:avLst/>
          </a:prstGeom>
          <a:solidFill>
            <a:srgbClr val="AD99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traits-cell-r5-c3"/>
          <p:cNvSpPr/>
          <p:nvPr/>
        </p:nvSpPr>
        <p:spPr>
          <a:xfrm>
            <a:off x="9486900" y="5953125"/>
            <a:ext cx="342900" cy="342900"/>
          </a:xfrm>
          <a:prstGeom prst="rect">
            <a:avLst/>
          </a:prstGeom>
          <a:solidFill>
            <a:srgbClr val="A597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traits-cell-r5-c4"/>
          <p:cNvSpPr/>
          <p:nvPr/>
        </p:nvSpPr>
        <p:spPr>
          <a:xfrm>
            <a:off x="9848850" y="5953125"/>
            <a:ext cx="342900" cy="342900"/>
          </a:xfrm>
          <a:prstGeom prst="rect">
            <a:avLst/>
          </a:prstGeom>
          <a:solidFill>
            <a:srgbClr val="52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traits-cell-r5-c5"/>
          <p:cNvSpPr/>
          <p:nvPr/>
        </p:nvSpPr>
        <p:spPr>
          <a:xfrm>
            <a:off x="10220325" y="5953125"/>
            <a:ext cx="333375" cy="342900"/>
          </a:xfrm>
          <a:prstGeom prst="rect">
            <a:avLst/>
          </a:prstGeom>
          <a:solidFill>
            <a:srgbClr val="7A9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traits-cell-r5-c6"/>
          <p:cNvSpPr/>
          <p:nvPr/>
        </p:nvSpPr>
        <p:spPr>
          <a:xfrm>
            <a:off x="10582275" y="5953125"/>
            <a:ext cx="342900" cy="352425"/>
          </a:xfrm>
          <a:prstGeom prst="rect">
            <a:avLst/>
          </a:prstGeom>
          <a:solidFill>
            <a:srgbClr val="537DA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traits-cell-r5-c7"/>
          <p:cNvSpPr/>
          <p:nvPr/>
        </p:nvSpPr>
        <p:spPr>
          <a:xfrm>
            <a:off x="10944225" y="5953125"/>
            <a:ext cx="342900" cy="342900"/>
          </a:xfrm>
          <a:prstGeom prst="rect">
            <a:avLst/>
          </a:prstGeom>
          <a:solidFill>
            <a:srgbClr val="B697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traits-cell-r5-c8"/>
          <p:cNvSpPr/>
          <p:nvPr/>
        </p:nvSpPr>
        <p:spPr>
          <a:xfrm>
            <a:off x="11315700" y="5953125"/>
            <a:ext cx="333375" cy="342900"/>
          </a:xfrm>
          <a:prstGeom prst="rect">
            <a:avLst/>
          </a:prstGeom>
          <a:solidFill>
            <a:srgbClr val="7B91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traits-cell-r6-c1"/>
          <p:cNvSpPr/>
          <p:nvPr/>
        </p:nvSpPr>
        <p:spPr>
          <a:xfrm>
            <a:off x="8753475" y="6324600"/>
            <a:ext cx="342900" cy="352425"/>
          </a:xfrm>
          <a:prstGeom prst="rect">
            <a:avLst/>
          </a:prstGeom>
          <a:solidFill>
            <a:srgbClr val="53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traits-cell-r6-c2"/>
          <p:cNvSpPr/>
          <p:nvPr/>
        </p:nvSpPr>
        <p:spPr>
          <a:xfrm>
            <a:off x="9124950" y="6324600"/>
            <a:ext cx="333375" cy="342900"/>
          </a:xfrm>
          <a:prstGeom prst="rect">
            <a:avLst/>
          </a:prstGeom>
          <a:solidFill>
            <a:srgbClr val="7D92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traits-cell-r6-c3"/>
          <p:cNvSpPr/>
          <p:nvPr/>
        </p:nvSpPr>
        <p:spPr>
          <a:xfrm>
            <a:off x="9486900" y="6324600"/>
            <a:ext cx="342900" cy="352425"/>
          </a:xfrm>
          <a:prstGeom prst="rect">
            <a:avLst/>
          </a:prstGeom>
          <a:solidFill>
            <a:srgbClr val="B298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traits-cell-r6-c4"/>
          <p:cNvSpPr/>
          <p:nvPr/>
        </p:nvSpPr>
        <p:spPr>
          <a:xfrm>
            <a:off x="9848850" y="6334125"/>
            <a:ext cx="333375" cy="333375"/>
          </a:xfrm>
          <a:prstGeom prst="rect">
            <a:avLst/>
          </a:prstGeom>
          <a:solidFill>
            <a:srgbClr val="7C91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traits-cell-r6-c5"/>
          <p:cNvSpPr/>
          <p:nvPr/>
        </p:nvSpPr>
        <p:spPr>
          <a:xfrm>
            <a:off x="10210800" y="6324600"/>
            <a:ext cx="352425" cy="352425"/>
          </a:xfrm>
          <a:prstGeom prst="rect">
            <a:avLst/>
          </a:prstGeom>
          <a:solidFill>
            <a:srgbClr val="B597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traits-cell-r6-c6"/>
          <p:cNvSpPr/>
          <p:nvPr/>
        </p:nvSpPr>
        <p:spPr>
          <a:xfrm>
            <a:off x="10582275" y="6324600"/>
            <a:ext cx="342900" cy="352425"/>
          </a:xfrm>
          <a:prstGeom prst="rect">
            <a:avLst/>
          </a:prstGeom>
          <a:solidFill>
            <a:srgbClr val="537CA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traits-cell-r6-c7"/>
          <p:cNvSpPr/>
          <p:nvPr/>
        </p:nvSpPr>
        <p:spPr>
          <a:xfrm>
            <a:off x="10944225" y="6324600"/>
            <a:ext cx="342900" cy="352425"/>
          </a:xfrm>
          <a:prstGeom prst="rect">
            <a:avLst/>
          </a:prstGeom>
          <a:solidFill>
            <a:srgbClr val="527C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traits-cell-r6-c8"/>
          <p:cNvSpPr/>
          <p:nvPr/>
        </p:nvSpPr>
        <p:spPr>
          <a:xfrm>
            <a:off x="11306175" y="6324600"/>
            <a:ext cx="342900" cy="352425"/>
          </a:xfrm>
          <a:prstGeom prst="rect">
            <a:avLst/>
          </a:prstGeom>
          <a:solidFill>
            <a:srgbClr val="B5987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traits-cell-r7-c1"/>
          <p:cNvSpPr/>
          <p:nvPr/>
        </p:nvSpPr>
        <p:spPr>
          <a:xfrm>
            <a:off x="8753475" y="6705600"/>
            <a:ext cx="333375" cy="342900"/>
          </a:xfrm>
          <a:prstGeom prst="rect">
            <a:avLst/>
          </a:prstGeom>
          <a:solidFill>
            <a:srgbClr val="7D93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traits-cell-r7-c2"/>
          <p:cNvSpPr/>
          <p:nvPr/>
        </p:nvSpPr>
        <p:spPr>
          <a:xfrm>
            <a:off x="9115425" y="6696075"/>
            <a:ext cx="352425" cy="352425"/>
          </a:xfrm>
          <a:prstGeom prst="rect">
            <a:avLst/>
          </a:prstGeom>
          <a:solidFill>
            <a:srgbClr val="B299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traits-cell-r7-c3"/>
          <p:cNvSpPr/>
          <p:nvPr/>
        </p:nvSpPr>
        <p:spPr>
          <a:xfrm>
            <a:off x="9486900" y="6696075"/>
            <a:ext cx="342900" cy="352425"/>
          </a:xfrm>
          <a:prstGeom prst="rect">
            <a:avLst/>
          </a:prstGeom>
          <a:solidFill>
            <a:srgbClr val="537DA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traits-cell-r7-c4"/>
          <p:cNvSpPr/>
          <p:nvPr/>
        </p:nvSpPr>
        <p:spPr>
          <a:xfrm>
            <a:off x="9848850" y="6696075"/>
            <a:ext cx="342900" cy="352425"/>
          </a:xfrm>
          <a:prstGeom prst="rect">
            <a:avLst/>
          </a:prstGeom>
          <a:solidFill>
            <a:srgbClr val="537DA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traits-cell-r7-c5"/>
          <p:cNvSpPr/>
          <p:nvPr/>
        </p:nvSpPr>
        <p:spPr>
          <a:xfrm>
            <a:off x="10220325" y="6705600"/>
            <a:ext cx="333375" cy="342900"/>
          </a:xfrm>
          <a:prstGeom prst="rect">
            <a:avLst/>
          </a:prstGeom>
          <a:solidFill>
            <a:srgbClr val="7B92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traits-cell-r7-c6"/>
          <p:cNvSpPr/>
          <p:nvPr/>
        </p:nvSpPr>
        <p:spPr>
          <a:xfrm>
            <a:off x="10582275" y="6696075"/>
            <a:ext cx="342900" cy="352425"/>
          </a:xfrm>
          <a:prstGeom prst="rect">
            <a:avLst/>
          </a:prstGeom>
          <a:solidFill>
            <a:srgbClr val="B298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traits-cell-r7-c7"/>
          <p:cNvSpPr/>
          <p:nvPr/>
        </p:nvSpPr>
        <p:spPr>
          <a:xfrm>
            <a:off x="10944225" y="6696075"/>
            <a:ext cx="342900" cy="352425"/>
          </a:xfrm>
          <a:prstGeom prst="rect">
            <a:avLst/>
          </a:prstGeom>
          <a:solidFill>
            <a:srgbClr val="537DA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traits-cell-r7-c8"/>
          <p:cNvSpPr/>
          <p:nvPr/>
        </p:nvSpPr>
        <p:spPr>
          <a:xfrm>
            <a:off x="11315700" y="6705600"/>
            <a:ext cx="333375" cy="342900"/>
          </a:xfrm>
          <a:prstGeom prst="rect">
            <a:avLst/>
          </a:prstGeom>
          <a:solidFill>
            <a:srgbClr val="7B91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traits-cell-r8-c1"/>
          <p:cNvSpPr/>
          <p:nvPr/>
        </p:nvSpPr>
        <p:spPr>
          <a:xfrm>
            <a:off x="8753475" y="7077075"/>
            <a:ext cx="342900" cy="352425"/>
          </a:xfrm>
          <a:prstGeom prst="rect">
            <a:avLst/>
          </a:prstGeom>
          <a:solidFill>
            <a:srgbClr val="B799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traits-cell-r8-c2"/>
          <p:cNvSpPr/>
          <p:nvPr/>
        </p:nvSpPr>
        <p:spPr>
          <a:xfrm>
            <a:off x="9115425" y="7077075"/>
            <a:ext cx="342900" cy="352425"/>
          </a:xfrm>
          <a:prstGeom prst="rect">
            <a:avLst/>
          </a:prstGeom>
          <a:solidFill>
            <a:srgbClr val="547EA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traits-cell-r8-c3"/>
          <p:cNvSpPr/>
          <p:nvPr/>
        </p:nvSpPr>
        <p:spPr>
          <a:xfrm>
            <a:off x="9486900" y="7077075"/>
            <a:ext cx="333375" cy="342900"/>
          </a:xfrm>
          <a:prstGeom prst="rect">
            <a:avLst/>
          </a:prstGeom>
          <a:solidFill>
            <a:srgbClr val="7B91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traits-cell-r8-c4"/>
          <p:cNvSpPr/>
          <p:nvPr/>
        </p:nvSpPr>
        <p:spPr>
          <a:xfrm>
            <a:off x="9848850" y="7077075"/>
            <a:ext cx="342900" cy="342900"/>
          </a:xfrm>
          <a:prstGeom prst="rect">
            <a:avLst/>
          </a:prstGeom>
          <a:solidFill>
            <a:srgbClr val="B39A7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traits-cell-r8-c5"/>
          <p:cNvSpPr/>
          <p:nvPr/>
        </p:nvSpPr>
        <p:spPr>
          <a:xfrm>
            <a:off x="10220325" y="7077075"/>
            <a:ext cx="333375" cy="342900"/>
          </a:xfrm>
          <a:prstGeom prst="rect">
            <a:avLst/>
          </a:prstGeom>
          <a:solidFill>
            <a:srgbClr val="7B91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traits-cell-r8-c6"/>
          <p:cNvSpPr/>
          <p:nvPr/>
        </p:nvSpPr>
        <p:spPr>
          <a:xfrm>
            <a:off x="10582275" y="7077075"/>
            <a:ext cx="342900" cy="352425"/>
          </a:xfrm>
          <a:prstGeom prst="rect">
            <a:avLst/>
          </a:prstGeom>
          <a:solidFill>
            <a:srgbClr val="527CA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traits-cell-r8-c7"/>
          <p:cNvSpPr/>
          <p:nvPr/>
        </p:nvSpPr>
        <p:spPr>
          <a:xfrm>
            <a:off x="10953750" y="7077075"/>
            <a:ext cx="333375" cy="342900"/>
          </a:xfrm>
          <a:prstGeom prst="rect">
            <a:avLst/>
          </a:prstGeom>
          <a:solidFill>
            <a:srgbClr val="7B917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traits-cell-r8-c8"/>
          <p:cNvSpPr/>
          <p:nvPr/>
        </p:nvSpPr>
        <p:spPr>
          <a:xfrm>
            <a:off x="11306175" y="7077075"/>
            <a:ext cx="342900" cy="342900"/>
          </a:xfrm>
          <a:prstGeom prst="rect">
            <a:avLst/>
          </a:prstGeom>
          <a:solidFill>
            <a:srgbClr val="B798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dge-i1-h1"/>
          <p:cNvSpPr/>
          <p:nvPr/>
        </p:nvSpPr>
        <p:spPr>
          <a:xfrm flipV="1">
            <a:off x="4866037" y="4712018"/>
            <a:ext cx="782288" cy="425958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47" name="edge-i1-h2"/>
          <p:cNvSpPr/>
          <p:nvPr/>
        </p:nvSpPr>
        <p:spPr>
          <a:xfrm>
            <a:off x="4872800" y="5208080"/>
            <a:ext cx="762476" cy="372618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48" name="edge-i1-h3"/>
          <p:cNvSpPr/>
          <p:nvPr/>
        </p:nvSpPr>
        <p:spPr>
          <a:xfrm>
            <a:off x="4871276" y="5229701"/>
            <a:ext cx="765143" cy="1196912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49" name="edge-i2-h1"/>
          <p:cNvSpPr/>
          <p:nvPr/>
        </p:nvSpPr>
        <p:spPr>
          <a:xfrm flipV="1">
            <a:off x="4873276" y="4790504"/>
            <a:ext cx="782193" cy="1204627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0" name="edge-i2-h2"/>
          <p:cNvSpPr/>
          <p:nvPr/>
        </p:nvSpPr>
        <p:spPr>
          <a:xfrm flipV="1">
            <a:off x="4873085" y="5588413"/>
            <a:ext cx="762286" cy="417004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1" name="edge-i2-h3"/>
          <p:cNvSpPr/>
          <p:nvPr/>
        </p:nvSpPr>
        <p:spPr>
          <a:xfrm>
            <a:off x="4872704" y="6014466"/>
            <a:ext cx="762095" cy="435578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2" name="edge-i2-h4"/>
          <p:cNvSpPr/>
          <p:nvPr/>
        </p:nvSpPr>
        <p:spPr>
          <a:xfrm>
            <a:off x="4872514" y="6017133"/>
            <a:ext cx="777526" cy="1216533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3" name="edge-i3-h2"/>
          <p:cNvSpPr/>
          <p:nvPr/>
        </p:nvSpPr>
        <p:spPr>
          <a:xfrm flipV="1">
            <a:off x="4873180" y="5612035"/>
            <a:ext cx="763905" cy="1178528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4" name="edge-i3-h3"/>
          <p:cNvSpPr/>
          <p:nvPr/>
        </p:nvSpPr>
        <p:spPr>
          <a:xfrm flipV="1">
            <a:off x="4872704" y="6461379"/>
            <a:ext cx="762000" cy="348520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5" name="edge-i3-h4"/>
          <p:cNvSpPr/>
          <p:nvPr/>
        </p:nvSpPr>
        <p:spPr>
          <a:xfrm>
            <a:off x="4870418" y="6833616"/>
            <a:ext cx="768763" cy="451104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6" name="edge-h1-o1"/>
          <p:cNvSpPr/>
          <p:nvPr/>
        </p:nvSpPr>
        <p:spPr>
          <a:xfrm>
            <a:off x="6173248" y="4712589"/>
            <a:ext cx="763143" cy="422719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7" name="edge-h1-o2"/>
          <p:cNvSpPr/>
          <p:nvPr/>
        </p:nvSpPr>
        <p:spPr>
          <a:xfrm>
            <a:off x="6166771" y="4787265"/>
            <a:ext cx="761524" cy="1201388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8" name="edge-h2-o1"/>
          <p:cNvSpPr/>
          <p:nvPr/>
        </p:nvSpPr>
        <p:spPr>
          <a:xfrm flipV="1">
            <a:off x="6191917" y="5213128"/>
            <a:ext cx="737044" cy="366903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59" name="edge-h2-o2"/>
          <p:cNvSpPr/>
          <p:nvPr/>
        </p:nvSpPr>
        <p:spPr>
          <a:xfrm>
            <a:off x="6191726" y="5591366"/>
            <a:ext cx="736568" cy="413480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60" name="edge-h2-o3"/>
          <p:cNvSpPr/>
          <p:nvPr/>
        </p:nvSpPr>
        <p:spPr>
          <a:xfrm>
            <a:off x="6190678" y="5606034"/>
            <a:ext cx="737997" cy="1198055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61" name="edge-h3-o1"/>
          <p:cNvSpPr/>
          <p:nvPr/>
        </p:nvSpPr>
        <p:spPr>
          <a:xfrm flipV="1">
            <a:off x="6190012" y="5238560"/>
            <a:ext cx="741236" cy="1191768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62" name="edge-h3-o2"/>
          <p:cNvSpPr/>
          <p:nvPr/>
        </p:nvSpPr>
        <p:spPr>
          <a:xfrm flipV="1">
            <a:off x="6191250" y="6018657"/>
            <a:ext cx="737807" cy="432530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63" name="edge-h3-o3"/>
          <p:cNvSpPr/>
          <p:nvPr/>
        </p:nvSpPr>
        <p:spPr>
          <a:xfrm>
            <a:off x="6191345" y="6462141"/>
            <a:ext cx="737140" cy="355378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64" name="edge-h4-o2"/>
          <p:cNvSpPr/>
          <p:nvPr/>
        </p:nvSpPr>
        <p:spPr>
          <a:xfrm flipV="1">
            <a:off x="6174867" y="6027896"/>
            <a:ext cx="755047" cy="1218247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sp>
        <p:nvSpPr>
          <p:cNvPr id="165" name="edge-h4-o3"/>
          <p:cNvSpPr/>
          <p:nvPr/>
        </p:nvSpPr>
        <p:spPr>
          <a:xfrm flipV="1">
            <a:off x="6182963" y="6850570"/>
            <a:ext cx="747712" cy="443579"/>
          </a:xfrm>
          <a:prstGeom prst="line">
            <a:avLst/>
          </a:prstGeom>
          <a:noFill/>
          <a:ln w="20955">
            <a:solidFill>
              <a:srgbClr val="29363E"/>
            </a:solidFill>
          </a:ln>
        </p:spPr>
        <p:txBody>
          <a:bodyPr/>
          <a:lstStyle/>
          <a:p/>
        </p:txBody>
      </p:sp>
      <p:cxnSp>
        <p:nvCxnSpPr>
          <p:cNvPr id="166" name="arrow-spectra"/>
          <p:cNvCxnSpPr/>
          <p:nvPr/>
        </p:nvCxnSpPr>
        <p:spPr>
          <a:xfrm>
            <a:off x="3295650" y="4019550"/>
            <a:ext cx="866775" cy="847725"/>
          </a:xfrm>
          <a:prstGeom prst="line">
            <a:avLst/>
          </a:prstGeom>
          <a:noFill/>
          <a:ln w="57150">
            <a:solidFill>
              <a:srgbClr val="4975A0"/>
            </a:solidFill>
            <a:tailEnd type="triangle" w="lg" len="lg"/>
          </a:ln>
        </p:spPr>
      </p:cxnSp>
      <p:cxnSp>
        <p:nvCxnSpPr>
          <p:cNvPr id="167" name="arrow-spatial"/>
          <p:cNvCxnSpPr/>
          <p:nvPr/>
        </p:nvCxnSpPr>
        <p:spPr>
          <a:xfrm flipV="1">
            <a:off x="3457575" y="7096125"/>
            <a:ext cx="723900" cy="742950"/>
          </a:xfrm>
          <a:prstGeom prst="line">
            <a:avLst/>
          </a:prstGeom>
          <a:noFill/>
          <a:ln w="57150">
            <a:solidFill>
              <a:srgbClr val="4975A0"/>
            </a:solidFill>
            <a:tailEnd type="triangle" w="lg" len="lg"/>
          </a:ln>
        </p:spPr>
      </p:cxnSp>
      <p:cxnSp>
        <p:nvCxnSpPr>
          <p:cNvPr id="168" name="arrow-traits"/>
          <p:cNvCxnSpPr/>
          <p:nvPr/>
        </p:nvCxnSpPr>
        <p:spPr>
          <a:xfrm>
            <a:off x="7715250" y="5953125"/>
            <a:ext cx="838200" cy="0"/>
          </a:xfrm>
          <a:prstGeom prst="line">
            <a:avLst/>
          </a:prstGeom>
          <a:noFill/>
          <a:ln w="57150">
            <a:solidFill>
              <a:srgbClr val="4975A0"/>
            </a:solidFill>
            <a:tailEnd type="triangle" w="lg" len="lg"/>
          </a:ln>
        </p:spPr>
      </p:cxnSp>
      <p:sp>
        <p:nvSpPr>
          <p:cNvPr id="169" name="node-i1"/>
          <p:cNvSpPr/>
          <p:nvPr/>
        </p:nvSpPr>
        <p:spPr>
          <a:xfrm>
            <a:off x="4310920" y="4918900"/>
            <a:ext cx="561975" cy="561975"/>
          </a:xfrm>
          <a:prstGeom prst="ellipse">
            <a:avLst/>
          </a:prstGeom>
          <a:solidFill>
            <a:srgbClr val="AFCBDD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0" name="node-i2"/>
          <p:cNvSpPr/>
          <p:nvPr/>
        </p:nvSpPr>
        <p:spPr>
          <a:xfrm>
            <a:off x="4311301" y="5715000"/>
            <a:ext cx="561975" cy="561975"/>
          </a:xfrm>
          <a:prstGeom prst="ellipse">
            <a:avLst/>
          </a:prstGeom>
          <a:solidFill>
            <a:srgbClr val="ADCADD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1" name="node-i3"/>
          <p:cNvSpPr/>
          <p:nvPr/>
        </p:nvSpPr>
        <p:spPr>
          <a:xfrm>
            <a:off x="4311015" y="6512909"/>
            <a:ext cx="562166" cy="562166"/>
          </a:xfrm>
          <a:prstGeom prst="ellipse">
            <a:avLst/>
          </a:prstGeom>
          <a:solidFill>
            <a:srgbClr val="AECADD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2" name="node-h1"/>
          <p:cNvSpPr/>
          <p:nvPr/>
        </p:nvSpPr>
        <p:spPr>
          <a:xfrm>
            <a:off x="5647849" y="4464653"/>
            <a:ext cx="525780" cy="525780"/>
          </a:xfrm>
          <a:prstGeom prst="ellipse">
            <a:avLst/>
          </a:prstGeom>
          <a:solidFill>
            <a:srgbClr val="97A789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3" name="node-h2"/>
          <p:cNvSpPr/>
          <p:nvPr/>
        </p:nvSpPr>
        <p:spPr>
          <a:xfrm>
            <a:off x="5635276" y="5301901"/>
            <a:ext cx="556641" cy="556641"/>
          </a:xfrm>
          <a:prstGeom prst="ellipse">
            <a:avLst/>
          </a:prstGeom>
          <a:solidFill>
            <a:srgbClr val="99AA8B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4" name="node-h3"/>
          <p:cNvSpPr/>
          <p:nvPr/>
        </p:nvSpPr>
        <p:spPr>
          <a:xfrm>
            <a:off x="5634704" y="6179344"/>
            <a:ext cx="556641" cy="556641"/>
          </a:xfrm>
          <a:prstGeom prst="ellipse">
            <a:avLst/>
          </a:prstGeom>
          <a:solidFill>
            <a:srgbClr val="9AAA8C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5" name="node-h4"/>
          <p:cNvSpPr/>
          <p:nvPr/>
        </p:nvSpPr>
        <p:spPr>
          <a:xfrm>
            <a:off x="5637466" y="7042404"/>
            <a:ext cx="546354" cy="546354"/>
          </a:xfrm>
          <a:prstGeom prst="ellipse">
            <a:avLst/>
          </a:prstGeom>
          <a:solidFill>
            <a:srgbClr val="98A98A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6" name="node-o1"/>
          <p:cNvSpPr/>
          <p:nvPr/>
        </p:nvSpPr>
        <p:spPr>
          <a:xfrm>
            <a:off x="6928675" y="4922139"/>
            <a:ext cx="556831" cy="556831"/>
          </a:xfrm>
          <a:prstGeom prst="ellipse">
            <a:avLst/>
          </a:prstGeom>
          <a:solidFill>
            <a:srgbClr val="BE9F79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7" name="node-o2"/>
          <p:cNvSpPr/>
          <p:nvPr/>
        </p:nvSpPr>
        <p:spPr>
          <a:xfrm>
            <a:off x="6928199" y="5718429"/>
            <a:ext cx="557212" cy="557212"/>
          </a:xfrm>
          <a:prstGeom prst="ellipse">
            <a:avLst/>
          </a:prstGeom>
          <a:solidFill>
            <a:srgbClr val="BF9F79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8" name="node-o3"/>
          <p:cNvSpPr/>
          <p:nvPr/>
        </p:nvSpPr>
        <p:spPr>
          <a:xfrm>
            <a:off x="6928485" y="6536436"/>
            <a:ext cx="557974" cy="557974"/>
          </a:xfrm>
          <a:prstGeom prst="ellipse">
            <a:avLst/>
          </a:prstGeom>
          <a:solidFill>
            <a:srgbClr val="BF9F7A"/>
          </a:solidFill>
          <a:ln w="25400">
            <a:solidFill>
              <a:srgbClr val="243038"/>
            </a:solidFill>
          </a:ln>
        </p:spPr>
        <p:txBody>
          <a:bodyPr/>
          <a:lstStyle/>
          <a:p/>
        </p:txBody>
      </p:sp>
      <p:sp>
        <p:nvSpPr>
          <p:cNvPr id="179" name="TextBox 179"/>
          <p:cNvSpPr txBox="1"/>
          <p:nvPr/>
        </p:nvSpPr>
        <p:spPr>
          <a:xfrm>
            <a:off x="952500" y="1466850"/>
            <a:ext cx="180975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500" b="1">
                <a:solidFill>
                  <a:srgbClr val="20292D"/>
                </a:solidFill>
                <a:latin typeface="Arial"/>
                <a:ea typeface="Arial"/>
                <a:cs typeface="Arial"/>
              </a:rPr>
              <a:t>Spectra</a:t>
            </a:r>
            <a:endParaRPr lang="zh-CN" sz="3500"/>
          </a:p>
        </p:txBody>
      </p:sp>
      <p:sp>
        <p:nvSpPr>
          <p:cNvPr id="180" name="TextBox 180"/>
          <p:cNvSpPr txBox="1"/>
          <p:nvPr/>
        </p:nvSpPr>
        <p:spPr>
          <a:xfrm>
            <a:off x="533400" y="6657975"/>
            <a:ext cx="2886075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500" b="1">
                <a:solidFill>
                  <a:srgbClr val="20292D"/>
                </a:solidFill>
                <a:latin typeface="Arial"/>
                <a:ea typeface="Arial"/>
                <a:cs typeface="Arial"/>
              </a:rPr>
              <a:t>Spatial detail</a:t>
            </a:r>
            <a:endParaRPr lang="zh-CN" sz="3500"/>
          </a:p>
        </p:txBody>
      </p:sp>
      <p:sp>
        <p:nvSpPr>
          <p:cNvPr id="181" name="TextBox 181"/>
          <p:cNvSpPr txBox="1"/>
          <p:nvPr/>
        </p:nvSpPr>
        <p:spPr>
          <a:xfrm>
            <a:off x="4676775" y="3581400"/>
            <a:ext cx="262890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500" b="1">
                <a:solidFill>
                  <a:srgbClr val="20292D"/>
                </a:solidFill>
                <a:latin typeface="Arial"/>
                <a:ea typeface="Arial"/>
                <a:cs typeface="Arial"/>
              </a:rPr>
              <a:t>Data fusion</a:t>
            </a:r>
            <a:endParaRPr lang="zh-CN" sz="3500"/>
          </a:p>
        </p:txBody>
      </p:sp>
      <p:sp>
        <p:nvSpPr>
          <p:cNvPr id="182" name="TextBox 182"/>
          <p:cNvSpPr txBox="1"/>
          <p:nvPr/>
        </p:nvSpPr>
        <p:spPr>
          <a:xfrm>
            <a:off x="9067800" y="3590925"/>
            <a:ext cx="241935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500" b="1">
                <a:solidFill>
                  <a:srgbClr val="20292D"/>
                </a:solidFill>
                <a:latin typeface="Arial"/>
                <a:ea typeface="Arial"/>
                <a:cs typeface="Arial"/>
              </a:rPr>
              <a:t>Trait maps</a:t>
            </a:r>
            <a:endParaRPr lang="zh-CN" sz="3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faithful separated veined green leaf"/>
          <p:cNvPicPr/>
          <p:nvPr/>
        </p:nvPicPr>
        <p:blipFill>
          <a:blip ns2:embed="rId2"/>
          <a:stretch>
            <a:fillRect/>
          </a:stretch>
        </p:blipFill>
        <p:spPr>
          <a:xfrm>
            <a:off x="752475" y="2657475"/>
            <a:ext cx="3686175" cy="2705100"/>
          </a:xfrm>
          <a:prstGeom prst="rect">
            <a:avLst/>
          </a:prstGeom>
        </p:spPr>
      </p:pic>
      <p:pic>
        <p:nvPicPr>
          <p:cNvPr id="3" name="Source-faithful separated yellow sun and rays"/>
          <p:cNvPicPr/>
          <p:nvPr/>
        </p:nvPicPr>
        <p:blipFill>
          <a:blip ns2:embed="rId3"/>
          <a:stretch>
            <a:fillRect/>
          </a:stretch>
        </p:blipFill>
        <p:spPr>
          <a:xfrm>
            <a:off x="371475" y="1085850"/>
            <a:ext cx="1133475" cy="1123950"/>
          </a:xfrm>
          <a:prstGeom prst="rect">
            <a:avLst/>
          </a:prstGeom>
        </p:spPr>
      </p:pic>
      <p:pic>
        <p:nvPicPr>
          <p:cNvPr id="4" name="Source-faithful separated forest crop and soil illustration"/>
          <p:cNvPicPr/>
          <p:nvPr/>
        </p:nvPicPr>
        <p:blipFill>
          <a:blip ns2:embed="rId4"/>
          <a:stretch>
            <a:fillRect/>
          </a:stretch>
        </p:blipFill>
        <p:spPr>
          <a:xfrm>
            <a:off x="276225" y="6000750"/>
            <a:ext cx="6429375" cy="4591050"/>
          </a:xfrm>
          <a:prstGeom prst="rect">
            <a:avLst/>
          </a:prstGeom>
        </p:spPr>
      </p:pic>
      <p:sp>
        <p:nvSpPr>
          <p:cNvPr id="5" name="radiative-box"/>
          <p:cNvSpPr/>
          <p:nvPr/>
        </p:nvSpPr>
        <p:spPr>
          <a:xfrm>
            <a:off x="5372100" y="3143250"/>
            <a:ext cx="2257425" cy="1924050"/>
          </a:xfrm>
          <a:prstGeom prst="rect">
            <a:avLst/>
          </a:prstGeom>
          <a:noFill/>
          <a:ln w="29209">
            <a:solidFill>
              <a:srgbClr val="344754"/>
            </a:solidFill>
          </a:ln>
        </p:spPr>
        <p:txBody>
          <a:bodyPr/>
          <a:lstStyle/>
          <a:p/>
        </p:txBody>
      </p:sp>
      <p:sp>
        <p:nvSpPr>
          <p:cNvPr id="6" name="process-box"/>
          <p:cNvSpPr/>
          <p:nvPr/>
        </p:nvSpPr>
        <p:spPr>
          <a:xfrm>
            <a:off x="5410200" y="6467475"/>
            <a:ext cx="2257425" cy="1847850"/>
          </a:xfrm>
          <a:prstGeom prst="rect">
            <a:avLst/>
          </a:prstGeom>
          <a:noFill/>
          <a:ln w="29209">
            <a:solidFill>
              <a:srgbClr val="344754"/>
            </a:solidFill>
          </a:ln>
        </p:spPr>
        <p:txBody>
          <a:bodyPr/>
          <a:lstStyle/>
          <a:p/>
        </p:txBody>
      </p:sp>
      <p:cxnSp>
        <p:nvCxnSpPr>
          <p:cNvPr id="7" name="incident-ray"/>
          <p:cNvCxnSpPr/>
          <p:nvPr/>
        </p:nvCxnSpPr>
        <p:spPr>
          <a:xfrm>
            <a:off x="1104900" y="1924050"/>
            <a:ext cx="1095375" cy="1609725"/>
          </a:xfrm>
          <a:prstGeom prst="line">
            <a:avLst/>
          </a:prstGeom>
          <a:noFill/>
          <a:ln w="64769">
            <a:solidFill>
              <a:srgbClr val="FFDA78"/>
            </a:solidFill>
            <a:tailEnd type="triangle" w="lg" len="lg"/>
          </a:ln>
        </p:spPr>
      </p:cxnSp>
      <p:cxnSp>
        <p:nvCxnSpPr>
          <p:cNvPr id="8" name="reflected-ray"/>
          <p:cNvCxnSpPr/>
          <p:nvPr/>
        </p:nvCxnSpPr>
        <p:spPr>
          <a:xfrm flipV="1">
            <a:off x="2790825" y="2095500"/>
            <a:ext cx="1466850" cy="1685925"/>
          </a:xfrm>
          <a:prstGeom prst="line">
            <a:avLst/>
          </a:prstGeom>
          <a:noFill/>
          <a:ln w="52069">
            <a:solidFill>
              <a:srgbClr val="5698D0"/>
            </a:solidFill>
            <a:tailEnd type="triangle" w="lg" len="lg"/>
          </a:ln>
        </p:spPr>
      </p:cxnSp>
      <p:cxnSp>
        <p:nvCxnSpPr>
          <p:cNvPr id="9" name="leaf-to-radiative"/>
          <p:cNvCxnSpPr/>
          <p:nvPr/>
        </p:nvCxnSpPr>
        <p:spPr>
          <a:xfrm>
            <a:off x="4133850" y="4095750"/>
            <a:ext cx="1228725" cy="0"/>
          </a:xfrm>
          <a:prstGeom prst="line">
            <a:avLst/>
          </a:prstGeom>
          <a:noFill/>
          <a:ln w="40640">
            <a:solidFill>
              <a:srgbClr val="4A8BC5"/>
            </a:solidFill>
            <a:tailEnd type="triangle" w="lg" len="lg"/>
          </a:ln>
        </p:spPr>
      </p:cxnSp>
      <p:cxnSp>
        <p:nvCxnSpPr>
          <p:cNvPr id="10" name="canopy-to-process"/>
          <p:cNvCxnSpPr/>
          <p:nvPr/>
        </p:nvCxnSpPr>
        <p:spPr>
          <a:xfrm>
            <a:off x="3933825" y="7391400"/>
            <a:ext cx="1476375" cy="0"/>
          </a:xfrm>
          <a:prstGeom prst="line">
            <a:avLst/>
          </a:prstGeom>
          <a:noFill/>
          <a:ln w="40640">
            <a:solidFill>
              <a:srgbClr val="4A8BC5"/>
            </a:solidFill>
            <a:tailEnd type="triangle" w="lg" len="lg"/>
          </a:ln>
        </p:spPr>
      </p:cxnSp>
      <p:cxnSp>
        <p:nvCxnSpPr>
          <p:cNvPr id="11" name="radiative-to-prediction"/>
          <p:cNvCxnSpPr/>
          <p:nvPr/>
        </p:nvCxnSpPr>
        <p:spPr>
          <a:xfrm>
            <a:off x="7639050" y="4114800"/>
            <a:ext cx="1104900" cy="1095375"/>
          </a:xfrm>
          <a:prstGeom prst="line">
            <a:avLst/>
          </a:prstGeom>
          <a:noFill/>
          <a:ln w="41275">
            <a:solidFill>
              <a:srgbClr val="4487C4"/>
            </a:solidFill>
            <a:tailEnd type="triangle" w="lg" len="lg"/>
          </a:ln>
        </p:spPr>
      </p:cxnSp>
      <p:cxnSp>
        <p:nvCxnSpPr>
          <p:cNvPr id="12" name="process-to-prediction"/>
          <p:cNvCxnSpPr/>
          <p:nvPr/>
        </p:nvCxnSpPr>
        <p:spPr>
          <a:xfrm flipV="1">
            <a:off x="7658100" y="6315075"/>
            <a:ext cx="1085850" cy="1047750"/>
          </a:xfrm>
          <a:prstGeom prst="line">
            <a:avLst/>
          </a:prstGeom>
          <a:noFill/>
          <a:ln w="41275">
            <a:solidFill>
              <a:srgbClr val="4487C4"/>
            </a:solidFill>
            <a:tailEnd type="triangle" w="lg" len="lg"/>
          </a:ln>
        </p:spPr>
      </p:cxnSp>
      <p:cxnSp>
        <p:nvCxnSpPr>
          <p:cNvPr id="13" name="prediction-y-axis"/>
          <p:cNvCxnSpPr/>
          <p:nvPr/>
        </p:nvCxnSpPr>
        <p:spPr>
          <a:xfrm flipV="1">
            <a:off x="8896350" y="4724400"/>
            <a:ext cx="0" cy="2305050"/>
          </a:xfrm>
          <a:prstGeom prst="line">
            <a:avLst/>
          </a:prstGeom>
          <a:noFill/>
          <a:ln w="31750">
            <a:solidFill>
              <a:srgbClr val="344754"/>
            </a:solidFill>
            <a:tailEnd type="triangle" w="lg" len="lg"/>
          </a:ln>
        </p:spPr>
      </p:cxnSp>
      <p:cxnSp>
        <p:nvCxnSpPr>
          <p:cNvPr id="14" name="prediction-x-axis"/>
          <p:cNvCxnSpPr/>
          <p:nvPr/>
        </p:nvCxnSpPr>
        <p:spPr>
          <a:xfrm>
            <a:off x="8896350" y="7029450"/>
            <a:ext cx="2819400" cy="0"/>
          </a:xfrm>
          <a:prstGeom prst="line">
            <a:avLst/>
          </a:prstGeom>
          <a:noFill/>
          <a:ln w="31750">
            <a:solidFill>
              <a:srgbClr val="344754"/>
            </a:solidFill>
            <a:tailEnd type="triangle" w="lg" len="lg"/>
          </a:ln>
        </p:spPr>
      </p:cxnSp>
      <p:sp>
        <p:nvSpPr>
          <p:cNvPr id="15" name="prediction-curve"/>
          <p:cNvSpPr/>
          <p:nvPr/>
        </p:nvSpPr>
        <p:spPr>
          <a:xfrm>
            <a:off x="9029700" y="5152263"/>
            <a:ext cx="2590800" cy="1639062"/>
          </a:xfrm>
          <a:custGeom>
            <a:avLst/>
            <a:gdLst/>
            <a:ahLst/>
            <a:cxnLst/>
            <a:rect l="l" t="t" r="r" b="b"/>
            <a:pathLst>
              <a:path w="21600" h="21600" fill="none" stroke="1">
                <a:moveTo>
                  <a:pt x="0" y="21600"/>
                </a:moveTo>
                <a:cubicBezTo>
                  <a:pt x="1906" y="21555"/>
                  <a:pt x="3812" y="20608"/>
                  <a:pt x="5718" y="15763"/>
                </a:cubicBezTo>
                <a:cubicBezTo>
                  <a:pt x="7967" y="9736"/>
                  <a:pt x="10218" y="0"/>
                  <a:pt x="12468" y="1014"/>
                </a:cubicBezTo>
                <a:cubicBezTo>
                  <a:pt x="13923" y="754"/>
                  <a:pt x="15380" y="5876"/>
                  <a:pt x="16835" y="11307"/>
                </a:cubicBezTo>
                <a:cubicBezTo>
                  <a:pt x="18424" y="16880"/>
                  <a:pt x="20012" y="19315"/>
                  <a:pt x="21600" y="19529"/>
                </a:cubicBezTo>
              </a:path>
            </a:pathLst>
          </a:custGeom>
          <a:noFill/>
          <a:ln w="42545">
            <a:solidFill>
              <a:srgbClr val="4487C4"/>
            </a:solidFill>
          </a:ln>
        </p:spPr>
        <p:txBody>
          <a:bodyPr/>
          <a:lstStyle/>
          <a:p/>
        </p:txBody>
      </p:sp>
      <p:sp>
        <p:nvSpPr>
          <p:cNvPr id="16" name="prediction-marker-01"/>
          <p:cNvSpPr/>
          <p:nvPr/>
        </p:nvSpPr>
        <p:spPr>
          <a:xfrm>
            <a:off x="9139238" y="6505575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rediction-marker-02"/>
          <p:cNvSpPr/>
          <p:nvPr/>
        </p:nvSpPr>
        <p:spPr>
          <a:xfrm>
            <a:off x="9420225" y="6315075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rediction-marker-03"/>
          <p:cNvSpPr/>
          <p:nvPr/>
        </p:nvSpPr>
        <p:spPr>
          <a:xfrm>
            <a:off x="9686925" y="5924550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rediction-marker-04"/>
          <p:cNvSpPr/>
          <p:nvPr/>
        </p:nvSpPr>
        <p:spPr>
          <a:xfrm>
            <a:off x="9953625" y="5434012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rediction-marker-05"/>
          <p:cNvSpPr/>
          <p:nvPr/>
        </p:nvSpPr>
        <p:spPr>
          <a:xfrm>
            <a:off x="10201275" y="5581650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rediction-marker-06"/>
          <p:cNvSpPr/>
          <p:nvPr/>
        </p:nvSpPr>
        <p:spPr>
          <a:xfrm>
            <a:off x="10467975" y="4957762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rediction-marker-07"/>
          <p:cNvSpPr/>
          <p:nvPr/>
        </p:nvSpPr>
        <p:spPr>
          <a:xfrm>
            <a:off x="10734675" y="5095875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rediction-marker-08"/>
          <p:cNvSpPr/>
          <p:nvPr/>
        </p:nvSpPr>
        <p:spPr>
          <a:xfrm>
            <a:off x="11068050" y="5838825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rediction-marker-09"/>
          <p:cNvSpPr/>
          <p:nvPr/>
        </p:nvSpPr>
        <p:spPr>
          <a:xfrm>
            <a:off x="11377612" y="6315075"/>
            <a:ext cx="114300" cy="114300"/>
          </a:xfrm>
          <a:prstGeom prst="ellipse">
            <a:avLst/>
          </a:prstGeom>
          <a:solidFill>
            <a:srgbClr val="778865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5562600" y="3705225"/>
            <a:ext cx="1895475" cy="4476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74957"/>
                </a:solidFill>
                <a:latin typeface="Trebuchet MS"/>
                <a:ea typeface="Trebuchet MS"/>
                <a:cs typeface="Trebuchet MS"/>
              </a:rPr>
              <a:t>Radiative</a:t>
            </a:r>
            <a:endParaRPr lang="zh-CN" sz="2700"/>
          </a:p>
        </p:txBody>
      </p:sp>
      <p:sp>
        <p:nvSpPr>
          <p:cNvPr id="26" name="TextBox 26"/>
          <p:cNvSpPr txBox="1"/>
          <p:nvPr/>
        </p:nvSpPr>
        <p:spPr>
          <a:xfrm>
            <a:off x="5629275" y="4095750"/>
            <a:ext cx="1790700" cy="4476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74957"/>
                </a:solidFill>
                <a:latin typeface="Trebuchet MS"/>
                <a:ea typeface="Trebuchet MS"/>
                <a:cs typeface="Trebuchet MS"/>
              </a:rPr>
              <a:t>transfer</a:t>
            </a:r>
            <a:endParaRPr lang="zh-CN" sz="2700"/>
          </a:p>
        </p:txBody>
      </p:sp>
      <p:sp>
        <p:nvSpPr>
          <p:cNvPr id="27" name="TextBox 27"/>
          <p:cNvSpPr txBox="1"/>
          <p:nvPr/>
        </p:nvSpPr>
        <p:spPr>
          <a:xfrm>
            <a:off x="5648325" y="6991350"/>
            <a:ext cx="1790700" cy="4476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74957"/>
                </a:solidFill>
                <a:latin typeface="Trebuchet MS"/>
                <a:ea typeface="Trebuchet MS"/>
                <a:cs typeface="Trebuchet MS"/>
              </a:rPr>
              <a:t>Process</a:t>
            </a:r>
            <a:endParaRPr lang="zh-CN" sz="2700"/>
          </a:p>
        </p:txBody>
      </p:sp>
      <p:sp>
        <p:nvSpPr>
          <p:cNvPr id="28" name="TextBox 28"/>
          <p:cNvSpPr txBox="1"/>
          <p:nvPr/>
        </p:nvSpPr>
        <p:spPr>
          <a:xfrm>
            <a:off x="5648325" y="7381875"/>
            <a:ext cx="1790700" cy="4476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74957"/>
                </a:solidFill>
                <a:latin typeface="Trebuchet MS"/>
                <a:ea typeface="Trebuchet MS"/>
                <a:cs typeface="Trebuchet MS"/>
              </a:rPr>
              <a:t>models</a:t>
            </a:r>
            <a:endParaRPr lang="zh-CN" sz="2700"/>
          </a:p>
        </p:txBody>
      </p:sp>
      <p:sp>
        <p:nvSpPr>
          <p:cNvPr id="29" name="TextBox 29"/>
          <p:cNvSpPr txBox="1"/>
          <p:nvPr/>
        </p:nvSpPr>
        <p:spPr>
          <a:xfrm>
            <a:off x="9429750" y="4105275"/>
            <a:ext cx="1971675" cy="4476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374957"/>
                </a:solidFill>
                <a:latin typeface="Trebuchet MS"/>
                <a:ea typeface="Trebuchet MS"/>
                <a:cs typeface="Trebuchet MS"/>
              </a:rPr>
              <a:t>Prediction</a:t>
            </a:r>
            <a:endParaRPr lang="zh-CN"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6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